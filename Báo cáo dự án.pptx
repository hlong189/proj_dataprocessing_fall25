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Fira Sans Bold" charset="1" panose="020B0803050000020004"/>
      <p:regular r:id="rId21"/>
    </p:embeddedFont>
    <p:embeddedFont>
      <p:font typeface="Fira Sans" charset="1" panose="020B0503050000020004"/>
      <p:regular r:id="rId22"/>
    </p:embeddedFont>
    <p:embeddedFont>
      <p:font typeface="Fira Sans Semi-Bold" charset="1" panose="020B0603050000020004"/>
      <p:regular r:id="rId23"/>
    </p:embeddedFont>
    <p:embeddedFont>
      <p:font typeface="Anton" charset="1" panose="00000500000000000000"/>
      <p:regular r:id="rId24"/>
    </p:embeddedFont>
    <p:embeddedFont>
      <p:font typeface="Open Sans" charset="1" panose="00000000000000000000"/>
      <p:regular r:id="rId25"/>
    </p:embeddedFont>
    <p:embeddedFont>
      <p:font typeface="Agrandir Bold" charset="1" panose="00000800000000000000"/>
      <p:regular r:id="rId26"/>
    </p:embeddedFont>
    <p:embeddedFont>
      <p:font typeface="Nourd" charset="1" panose="00000500000000000000"/>
      <p:regular r:id="rId27"/>
    </p:embeddedFont>
    <p:embeddedFont>
      <p:font typeface="Open Sans Bold" charset="1" panose="00000000000000000000"/>
      <p:regular r:id="rId28"/>
    </p:embeddedFont>
    <p:embeddedFont>
      <p:font typeface="Luckiest Guy" charset="1" panose="02000506000000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30.png" Type="http://schemas.openxmlformats.org/officeDocument/2006/relationships/image"/><Relationship Id="rId13" Target="../media/image31.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37.png" Type="http://schemas.openxmlformats.org/officeDocument/2006/relationships/image"/><Relationship Id="rId3" Target="../media/image38.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39.png" Type="http://schemas.openxmlformats.org/officeDocument/2006/relationships/image"/><Relationship Id="rId9" Target="../media/image4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4.png" Type="http://schemas.openxmlformats.org/officeDocument/2006/relationships/image"/><Relationship Id="rId7" Target="../media/image45.pn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 Id="rId7" Target="../media/image49.pn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png" Type="http://schemas.openxmlformats.org/officeDocument/2006/relationships/image"/><Relationship Id="rId11" Target="../media/image59.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8.png" Type="http://schemas.openxmlformats.org/officeDocument/2006/relationships/image"/><Relationship Id="rId15" Target="../media/image9.svg" Type="http://schemas.openxmlformats.org/officeDocument/2006/relationships/image"/><Relationship Id="rId2" Target="../media/image50.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png" Type="http://schemas.openxmlformats.org/officeDocument/2006/relationships/image"/><Relationship Id="rId6" Target="../media/image54.png" Type="http://schemas.openxmlformats.org/officeDocument/2006/relationships/image"/><Relationship Id="rId7" Target="../media/image55.png" Type="http://schemas.openxmlformats.org/officeDocument/2006/relationships/image"/><Relationship Id="rId8" Target="../media/image56.png" Type="http://schemas.openxmlformats.org/officeDocument/2006/relationships/image"/><Relationship Id="rId9" Target="../media/image5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63.png" Type="http://schemas.openxmlformats.org/officeDocument/2006/relationships/image"/><Relationship Id="rId12" Target="../media/image64.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2.png" Type="http://schemas.openxmlformats.org/officeDocument/2006/relationships/image"/><Relationship Id="rId9"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3.svg" Type="http://schemas.openxmlformats.org/officeDocument/2006/relationships/image"/><Relationship Id="rId11" Target="../media/image74.png" Type="http://schemas.openxmlformats.org/officeDocument/2006/relationships/image"/><Relationship Id="rId12" Target="../media/image75.svg" Type="http://schemas.openxmlformats.org/officeDocument/2006/relationships/image"/><Relationship Id="rId2" Target="../media/image67.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8.png" Type="http://schemas.openxmlformats.org/officeDocument/2006/relationships/image"/><Relationship Id="rId6" Target="../media/image69.png" Type="http://schemas.openxmlformats.org/officeDocument/2006/relationships/image"/><Relationship Id="rId7" Target="../media/image70.svg" Type="http://schemas.openxmlformats.org/officeDocument/2006/relationships/image"/><Relationship Id="rId8" Target="../media/image71.png" Type="http://schemas.openxmlformats.org/officeDocument/2006/relationships/image"/><Relationship Id="rId9" Target="../media/image7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8266">
                <a:alpha val="51000"/>
              </a:srgbClr>
            </a:gs>
            <a:gs pos="100000">
              <a:srgbClr val="FFDE59">
                <a:alpha val="205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735199" y="1776255"/>
            <a:ext cx="8823170" cy="7251042"/>
          </a:xfrm>
          <a:custGeom>
            <a:avLst/>
            <a:gdLst/>
            <a:ahLst/>
            <a:cxnLst/>
            <a:rect r="r" b="b" t="t" l="l"/>
            <a:pathLst>
              <a:path h="7251042" w="8823170">
                <a:moveTo>
                  <a:pt x="0" y="0"/>
                </a:moveTo>
                <a:lnTo>
                  <a:pt x="8823170" y="0"/>
                </a:lnTo>
                <a:lnTo>
                  <a:pt x="8823170" y="7251041"/>
                </a:lnTo>
                <a:lnTo>
                  <a:pt x="0" y="7251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7989">
            <a:off x="15084686" y="6715833"/>
            <a:ext cx="1146209" cy="1093913"/>
          </a:xfrm>
          <a:custGeom>
            <a:avLst/>
            <a:gdLst/>
            <a:ahLst/>
            <a:cxnLst/>
            <a:rect r="r" b="b" t="t" l="l"/>
            <a:pathLst>
              <a:path h="1093913" w="1146209">
                <a:moveTo>
                  <a:pt x="0" y="0"/>
                </a:moveTo>
                <a:lnTo>
                  <a:pt x="1146209" y="0"/>
                </a:lnTo>
                <a:lnTo>
                  <a:pt x="1146209" y="1093913"/>
                </a:lnTo>
                <a:lnTo>
                  <a:pt x="0" y="1093913"/>
                </a:lnTo>
                <a:lnTo>
                  <a:pt x="0" y="0"/>
                </a:lnTo>
                <a:close/>
              </a:path>
            </a:pathLst>
          </a:custGeom>
          <a:blipFill>
            <a:blip r:embed="rId4"/>
            <a:stretch>
              <a:fillRect l="0" t="0" r="0" b="0"/>
            </a:stretch>
          </a:blipFill>
        </p:spPr>
      </p:sp>
      <p:sp>
        <p:nvSpPr>
          <p:cNvPr name="Freeform 4" id="4"/>
          <p:cNvSpPr/>
          <p:nvPr/>
        </p:nvSpPr>
        <p:spPr>
          <a:xfrm flipH="true" flipV="false" rot="0">
            <a:off x="-279065" y="6023887"/>
            <a:ext cx="4402635" cy="4402635"/>
          </a:xfrm>
          <a:custGeom>
            <a:avLst/>
            <a:gdLst/>
            <a:ahLst/>
            <a:cxnLst/>
            <a:rect r="r" b="b" t="t" l="l"/>
            <a:pathLst>
              <a:path h="4402635" w="4402635">
                <a:moveTo>
                  <a:pt x="4402635" y="0"/>
                </a:moveTo>
                <a:lnTo>
                  <a:pt x="0" y="0"/>
                </a:lnTo>
                <a:lnTo>
                  <a:pt x="0" y="4402635"/>
                </a:lnTo>
                <a:lnTo>
                  <a:pt x="4402635" y="4402635"/>
                </a:lnTo>
                <a:lnTo>
                  <a:pt x="440263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66743" y="3535290"/>
            <a:ext cx="2562396" cy="2243591"/>
          </a:xfrm>
          <a:custGeom>
            <a:avLst/>
            <a:gdLst/>
            <a:ahLst/>
            <a:cxnLst/>
            <a:rect r="r" b="b" t="t" l="l"/>
            <a:pathLst>
              <a:path h="2243591" w="2562396">
                <a:moveTo>
                  <a:pt x="0" y="0"/>
                </a:moveTo>
                <a:lnTo>
                  <a:pt x="2562396" y="0"/>
                </a:lnTo>
                <a:lnTo>
                  <a:pt x="2562396" y="2243591"/>
                </a:lnTo>
                <a:lnTo>
                  <a:pt x="0" y="22435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164430" y="6023887"/>
            <a:ext cx="4402635" cy="4402635"/>
          </a:xfrm>
          <a:custGeom>
            <a:avLst/>
            <a:gdLst/>
            <a:ahLst/>
            <a:cxnLst/>
            <a:rect r="r" b="b" t="t" l="l"/>
            <a:pathLst>
              <a:path h="4402635" w="4402635">
                <a:moveTo>
                  <a:pt x="0" y="0"/>
                </a:moveTo>
                <a:lnTo>
                  <a:pt x="4402635" y="0"/>
                </a:lnTo>
                <a:lnTo>
                  <a:pt x="4402635" y="4402635"/>
                </a:lnTo>
                <a:lnTo>
                  <a:pt x="0" y="44026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069679" y="1184723"/>
            <a:ext cx="12148641" cy="1097272"/>
          </a:xfrm>
          <a:prstGeom prst="rect">
            <a:avLst/>
          </a:prstGeom>
        </p:spPr>
        <p:txBody>
          <a:bodyPr anchor="t" rtlCol="false" tIns="0" lIns="0" bIns="0" rIns="0">
            <a:spAutoFit/>
          </a:bodyPr>
          <a:lstStyle/>
          <a:p>
            <a:pPr algn="ctr">
              <a:lnSpc>
                <a:spcPts val="8159"/>
              </a:lnSpc>
            </a:pPr>
            <a:r>
              <a:rPr lang="en-US" b="true" sz="8499">
                <a:solidFill>
                  <a:srgbClr val="252525"/>
                </a:solidFill>
                <a:latin typeface="Fira Sans Bold"/>
                <a:ea typeface="Fira Sans Bold"/>
                <a:cs typeface="Fira Sans Bold"/>
                <a:sym typeface="Fira Sans Bold"/>
              </a:rPr>
              <a:t>BÁO CÁO DỰ ÁN</a:t>
            </a:r>
          </a:p>
        </p:txBody>
      </p:sp>
      <p:sp>
        <p:nvSpPr>
          <p:cNvPr name="Freeform 8" id="8"/>
          <p:cNvSpPr/>
          <p:nvPr/>
        </p:nvSpPr>
        <p:spPr>
          <a:xfrm flipH="false" flipV="false" rot="1204850">
            <a:off x="2288557" y="6766434"/>
            <a:ext cx="1118768" cy="1306417"/>
          </a:xfrm>
          <a:custGeom>
            <a:avLst/>
            <a:gdLst/>
            <a:ahLst/>
            <a:cxnLst/>
            <a:rect r="r" b="b" t="t" l="l"/>
            <a:pathLst>
              <a:path h="1306417" w="1118768">
                <a:moveTo>
                  <a:pt x="0" y="0"/>
                </a:moveTo>
                <a:lnTo>
                  <a:pt x="1118768" y="0"/>
                </a:lnTo>
                <a:lnTo>
                  <a:pt x="1118768" y="1306418"/>
                </a:lnTo>
                <a:lnTo>
                  <a:pt x="0" y="130641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true" flipV="false" rot="-1892771">
            <a:off x="15098406" y="2882082"/>
            <a:ext cx="1118768" cy="1306417"/>
          </a:xfrm>
          <a:custGeom>
            <a:avLst/>
            <a:gdLst/>
            <a:ahLst/>
            <a:cxnLst/>
            <a:rect r="r" b="b" t="t" l="l"/>
            <a:pathLst>
              <a:path h="1306417" w="1118768">
                <a:moveTo>
                  <a:pt x="1118768" y="0"/>
                </a:moveTo>
                <a:lnTo>
                  <a:pt x="0" y="0"/>
                </a:lnTo>
                <a:lnTo>
                  <a:pt x="0" y="1306417"/>
                </a:lnTo>
                <a:lnTo>
                  <a:pt x="1118768" y="1306417"/>
                </a:lnTo>
                <a:lnTo>
                  <a:pt x="111876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5477683" y="2445524"/>
            <a:ext cx="7332635" cy="843271"/>
          </a:xfrm>
          <a:prstGeom prst="rect">
            <a:avLst/>
          </a:prstGeom>
        </p:spPr>
        <p:txBody>
          <a:bodyPr anchor="t" rtlCol="false" tIns="0" lIns="0" bIns="0" rIns="0">
            <a:spAutoFit/>
          </a:bodyPr>
          <a:lstStyle/>
          <a:p>
            <a:pPr algn="ctr">
              <a:lnSpc>
                <a:spcPts val="3193"/>
              </a:lnSpc>
            </a:pPr>
            <a:r>
              <a:rPr lang="en-US" sz="3756">
                <a:solidFill>
                  <a:srgbClr val="FFFFFF"/>
                </a:solidFill>
                <a:latin typeface="Fira Sans"/>
                <a:ea typeface="Fira Sans"/>
                <a:cs typeface="Fira Sans"/>
                <a:sym typeface="Fira Sans"/>
              </a:rPr>
              <a:t>Technical Programming &amp; Data Processing</a:t>
            </a:r>
          </a:p>
        </p:txBody>
      </p:sp>
      <p:grpSp>
        <p:nvGrpSpPr>
          <p:cNvPr name="Group 11" id="11"/>
          <p:cNvGrpSpPr/>
          <p:nvPr/>
        </p:nvGrpSpPr>
        <p:grpSpPr>
          <a:xfrm rot="0">
            <a:off x="16476257" y="1270514"/>
            <a:ext cx="1011481" cy="10114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13" id="13"/>
            <p:cNvSpPr txBox="true"/>
            <p:nvPr/>
          </p:nvSpPr>
          <p:spPr>
            <a:xfrm>
              <a:off x="76200" y="133350"/>
              <a:ext cx="660400" cy="603250"/>
            </a:xfrm>
            <a:prstGeom prst="rect">
              <a:avLst/>
            </a:prstGeom>
          </p:spPr>
          <p:txBody>
            <a:bodyPr anchor="ctr" rtlCol="false" tIns="50800" lIns="50800" bIns="50800" rIns="50800"/>
            <a:lstStyle/>
            <a:p>
              <a:pPr algn="ctr">
                <a:lnSpc>
                  <a:spcPts val="1468"/>
                </a:lnSpc>
              </a:pPr>
            </a:p>
          </p:txBody>
        </p:sp>
      </p:grpSp>
      <p:grpSp>
        <p:nvGrpSpPr>
          <p:cNvPr name="Group 14" id="14"/>
          <p:cNvGrpSpPr/>
          <p:nvPr/>
        </p:nvGrpSpPr>
        <p:grpSpPr>
          <a:xfrm rot="0">
            <a:off x="685102" y="2685952"/>
            <a:ext cx="849339" cy="84933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16" id="16"/>
            <p:cNvSpPr txBox="true"/>
            <p:nvPr/>
          </p:nvSpPr>
          <p:spPr>
            <a:xfrm>
              <a:off x="76200" y="133350"/>
              <a:ext cx="660400" cy="603250"/>
            </a:xfrm>
            <a:prstGeom prst="rect">
              <a:avLst/>
            </a:prstGeom>
          </p:spPr>
          <p:txBody>
            <a:bodyPr anchor="ctr" rtlCol="false" tIns="50800" lIns="50800" bIns="50800" rIns="50800"/>
            <a:lstStyle/>
            <a:p>
              <a:pPr algn="ctr">
                <a:lnSpc>
                  <a:spcPts val="1468"/>
                </a:lnSpc>
              </a:pPr>
            </a:p>
          </p:txBody>
        </p:sp>
      </p:grpSp>
      <p:sp>
        <p:nvSpPr>
          <p:cNvPr name="TextBox 17" id="17"/>
          <p:cNvSpPr txBox="true"/>
          <p:nvPr/>
        </p:nvSpPr>
        <p:spPr>
          <a:xfrm rot="0">
            <a:off x="7209135" y="211097"/>
            <a:ext cx="3869730" cy="580390"/>
          </a:xfrm>
          <a:prstGeom prst="rect">
            <a:avLst/>
          </a:prstGeom>
        </p:spPr>
        <p:txBody>
          <a:bodyPr anchor="t" rtlCol="false" tIns="0" lIns="0" bIns="0" rIns="0">
            <a:spAutoFit/>
          </a:bodyPr>
          <a:lstStyle/>
          <a:p>
            <a:pPr algn="ctr">
              <a:lnSpc>
                <a:spcPts val="4759"/>
              </a:lnSpc>
            </a:pPr>
            <a:r>
              <a:rPr lang="en-US" b="true" sz="3399">
                <a:solidFill>
                  <a:srgbClr val="000000"/>
                </a:solidFill>
                <a:latin typeface="Fira Sans Semi-Bold"/>
                <a:ea typeface="Fira Sans Semi-Bold"/>
                <a:cs typeface="Fira Sans Semi-Bold"/>
                <a:sym typeface="Fira Sans Semi-Bold"/>
              </a:rPr>
              <a:t>Báo cáo bởi nhóm 6</a:t>
            </a:r>
          </a:p>
        </p:txBody>
      </p:sp>
      <p:sp>
        <p:nvSpPr>
          <p:cNvPr name="TextBox 18" id="18"/>
          <p:cNvSpPr txBox="true"/>
          <p:nvPr/>
        </p:nvSpPr>
        <p:spPr>
          <a:xfrm rot="0">
            <a:off x="1725027" y="8938260"/>
            <a:ext cx="14837946" cy="773430"/>
          </a:xfrm>
          <a:prstGeom prst="rect">
            <a:avLst/>
          </a:prstGeom>
        </p:spPr>
        <p:txBody>
          <a:bodyPr anchor="t" rtlCol="false" tIns="0" lIns="0" bIns="0" rIns="0">
            <a:spAutoFit/>
          </a:bodyPr>
          <a:lstStyle/>
          <a:p>
            <a:pPr algn="ctr">
              <a:lnSpc>
                <a:spcPts val="5759"/>
              </a:lnSpc>
            </a:pPr>
            <a:r>
              <a:rPr lang="en-US" sz="6000">
                <a:solidFill>
                  <a:srgbClr val="252525"/>
                </a:solidFill>
                <a:latin typeface="Anton"/>
                <a:ea typeface="Anton"/>
                <a:cs typeface="Anton"/>
                <a:sym typeface="Anton"/>
              </a:rPr>
              <a:t>PHÂN TÍCH HÀNH VI MUA SẮM KHÁCH HÀNG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8266">
                <a:alpha val="34000"/>
              </a:srgbClr>
            </a:gs>
            <a:gs pos="100000">
              <a:srgbClr val="FFDE59">
                <a:alpha val="31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1335454" y="-1057467"/>
            <a:ext cx="8593148" cy="859314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5" id="5"/>
          <p:cNvGrpSpPr/>
          <p:nvPr/>
        </p:nvGrpSpPr>
        <p:grpSpPr>
          <a:xfrm rot="0">
            <a:off x="14972716" y="487837"/>
            <a:ext cx="2053742" cy="354893"/>
            <a:chOff x="0" y="0"/>
            <a:chExt cx="1015246" cy="175438"/>
          </a:xfrm>
        </p:grpSpPr>
        <p:sp>
          <p:nvSpPr>
            <p:cNvPr name="Freeform 6" id="6"/>
            <p:cNvSpPr/>
            <p:nvPr/>
          </p:nvSpPr>
          <p:spPr>
            <a:xfrm flipH="false" flipV="false" rot="0">
              <a:off x="0" y="0"/>
              <a:ext cx="1015246" cy="175438"/>
            </a:xfrm>
            <a:custGeom>
              <a:avLst/>
              <a:gdLst/>
              <a:ahLst/>
              <a:cxnLst/>
              <a:rect r="r" b="b" t="t" l="l"/>
              <a:pathLst>
                <a:path h="175438" w="1015246">
                  <a:moveTo>
                    <a:pt x="41466" y="0"/>
                  </a:moveTo>
                  <a:lnTo>
                    <a:pt x="973780" y="0"/>
                  </a:lnTo>
                  <a:cubicBezTo>
                    <a:pt x="984778" y="0"/>
                    <a:pt x="995325" y="4369"/>
                    <a:pt x="1003101" y="12145"/>
                  </a:cubicBezTo>
                  <a:cubicBezTo>
                    <a:pt x="1010878" y="19922"/>
                    <a:pt x="1015246" y="30469"/>
                    <a:pt x="1015246" y="41466"/>
                  </a:cubicBezTo>
                  <a:lnTo>
                    <a:pt x="1015246" y="133971"/>
                  </a:lnTo>
                  <a:cubicBezTo>
                    <a:pt x="1015246" y="156873"/>
                    <a:pt x="996681" y="175438"/>
                    <a:pt x="973780" y="175438"/>
                  </a:cubicBezTo>
                  <a:lnTo>
                    <a:pt x="41466" y="175438"/>
                  </a:lnTo>
                  <a:cubicBezTo>
                    <a:pt x="30469" y="175438"/>
                    <a:pt x="19922" y="171069"/>
                    <a:pt x="12145" y="163293"/>
                  </a:cubicBezTo>
                  <a:cubicBezTo>
                    <a:pt x="4369" y="155516"/>
                    <a:pt x="0" y="144969"/>
                    <a:pt x="0" y="133971"/>
                  </a:cubicBezTo>
                  <a:lnTo>
                    <a:pt x="0" y="41466"/>
                  </a:lnTo>
                  <a:cubicBezTo>
                    <a:pt x="0" y="30469"/>
                    <a:pt x="4369" y="19922"/>
                    <a:pt x="12145" y="12145"/>
                  </a:cubicBezTo>
                  <a:cubicBezTo>
                    <a:pt x="19922" y="4369"/>
                    <a:pt x="30469" y="0"/>
                    <a:pt x="41466" y="0"/>
                  </a:cubicBezTo>
                  <a:close/>
                </a:path>
              </a:pathLst>
            </a:custGeom>
            <a:solidFill>
              <a:srgbClr val="F5E79D">
                <a:alpha val="37647"/>
              </a:srgbClr>
            </a:solidFill>
          </p:spPr>
        </p:sp>
        <p:sp>
          <p:nvSpPr>
            <p:cNvPr name="TextBox 7" id="7"/>
            <p:cNvSpPr txBox="true"/>
            <p:nvPr/>
          </p:nvSpPr>
          <p:spPr>
            <a:xfrm>
              <a:off x="0" y="-38100"/>
              <a:ext cx="1015246" cy="21353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544459" y="487837"/>
            <a:ext cx="481998" cy="354893"/>
            <a:chOff x="0" y="0"/>
            <a:chExt cx="238271" cy="175438"/>
          </a:xfrm>
        </p:grpSpPr>
        <p:sp>
          <p:nvSpPr>
            <p:cNvPr name="Freeform 9" id="9"/>
            <p:cNvSpPr/>
            <p:nvPr/>
          </p:nvSpPr>
          <p:spPr>
            <a:xfrm flipH="false" flipV="false" rot="0">
              <a:off x="0" y="0"/>
              <a:ext cx="238271" cy="175438"/>
            </a:xfrm>
            <a:custGeom>
              <a:avLst/>
              <a:gdLst/>
              <a:ahLst/>
              <a:cxnLst/>
              <a:rect r="r" b="b" t="t" l="l"/>
              <a:pathLst>
                <a:path h="175438" w="238271">
                  <a:moveTo>
                    <a:pt x="87719" y="0"/>
                  </a:moveTo>
                  <a:lnTo>
                    <a:pt x="150552" y="0"/>
                  </a:lnTo>
                  <a:cubicBezTo>
                    <a:pt x="198998" y="0"/>
                    <a:pt x="238271" y="39273"/>
                    <a:pt x="238271" y="87719"/>
                  </a:cubicBezTo>
                  <a:lnTo>
                    <a:pt x="238271" y="87719"/>
                  </a:lnTo>
                  <a:cubicBezTo>
                    <a:pt x="238271" y="136165"/>
                    <a:pt x="198998" y="175438"/>
                    <a:pt x="150552" y="175438"/>
                  </a:cubicBezTo>
                  <a:lnTo>
                    <a:pt x="87719" y="175438"/>
                  </a:lnTo>
                  <a:cubicBezTo>
                    <a:pt x="39273" y="175438"/>
                    <a:pt x="0" y="136165"/>
                    <a:pt x="0" y="87719"/>
                  </a:cubicBezTo>
                  <a:lnTo>
                    <a:pt x="0" y="87719"/>
                  </a:lnTo>
                  <a:cubicBezTo>
                    <a:pt x="0" y="39273"/>
                    <a:pt x="39273" y="0"/>
                    <a:pt x="87719" y="0"/>
                  </a:cubicBezTo>
                  <a:close/>
                </a:path>
              </a:pathLst>
            </a:custGeom>
            <a:solidFill>
              <a:srgbClr val="F7C696">
                <a:alpha val="83922"/>
              </a:srgbClr>
            </a:solidFill>
          </p:spPr>
        </p:sp>
        <p:sp>
          <p:nvSpPr>
            <p:cNvPr name="TextBox 10" id="10"/>
            <p:cNvSpPr txBox="true"/>
            <p:nvPr/>
          </p:nvSpPr>
          <p:spPr>
            <a:xfrm>
              <a:off x="0" y="-38100"/>
              <a:ext cx="238271" cy="213538"/>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675410" y="619366"/>
            <a:ext cx="220097" cy="91835"/>
          </a:xfrm>
          <a:custGeom>
            <a:avLst/>
            <a:gdLst/>
            <a:ahLst/>
            <a:cxnLst/>
            <a:rect r="r" b="b" t="t" l="l"/>
            <a:pathLst>
              <a:path h="91835" w="220097">
                <a:moveTo>
                  <a:pt x="0" y="0"/>
                </a:moveTo>
                <a:lnTo>
                  <a:pt x="220097" y="0"/>
                </a:lnTo>
                <a:lnTo>
                  <a:pt x="220097" y="91834"/>
                </a:lnTo>
                <a:lnTo>
                  <a:pt x="0" y="918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0">
            <a:off x="10058400" y="1028700"/>
            <a:ext cx="7715250" cy="7715250"/>
          </a:xfrm>
          <a:custGeom>
            <a:avLst/>
            <a:gdLst/>
            <a:ahLst/>
            <a:cxnLst/>
            <a:rect r="r" b="b" t="t" l="l"/>
            <a:pathLst>
              <a:path h="7715250" w="7715250">
                <a:moveTo>
                  <a:pt x="7715250" y="0"/>
                </a:moveTo>
                <a:lnTo>
                  <a:pt x="0" y="0"/>
                </a:lnTo>
                <a:lnTo>
                  <a:pt x="0" y="7715250"/>
                </a:lnTo>
                <a:lnTo>
                  <a:pt x="7715250" y="7715250"/>
                </a:lnTo>
                <a:lnTo>
                  <a:pt x="77152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598116" y="1395152"/>
            <a:ext cx="6603307" cy="741574"/>
          </a:xfrm>
          <a:prstGeom prst="rect">
            <a:avLst/>
          </a:prstGeom>
        </p:spPr>
        <p:txBody>
          <a:bodyPr anchor="t" rtlCol="false" tIns="0" lIns="0" bIns="0" rIns="0">
            <a:spAutoFit/>
          </a:bodyPr>
          <a:lstStyle/>
          <a:p>
            <a:pPr algn="l">
              <a:lnSpc>
                <a:spcPts val="5699"/>
              </a:lnSpc>
            </a:pPr>
            <a:r>
              <a:rPr lang="en-US" sz="5427" b="true">
                <a:solidFill>
                  <a:srgbClr val="252525"/>
                </a:solidFill>
                <a:latin typeface="Fira Sans Bold"/>
                <a:ea typeface="Fira Sans Bold"/>
                <a:cs typeface="Fira Sans Bold"/>
                <a:sym typeface="Fira Sans Bold"/>
              </a:rPr>
              <a:t>LÍ DO CHỌN DATASET</a:t>
            </a:r>
          </a:p>
        </p:txBody>
      </p:sp>
      <p:sp>
        <p:nvSpPr>
          <p:cNvPr name="TextBox 14" id="14"/>
          <p:cNvSpPr txBox="true"/>
          <p:nvPr/>
        </p:nvSpPr>
        <p:spPr>
          <a:xfrm rot="0">
            <a:off x="14972716" y="591810"/>
            <a:ext cx="1571743" cy="165735"/>
          </a:xfrm>
          <a:prstGeom prst="rect">
            <a:avLst/>
          </a:prstGeom>
        </p:spPr>
        <p:txBody>
          <a:bodyPr anchor="t" rtlCol="false" tIns="0" lIns="0" bIns="0" rIns="0">
            <a:spAutoFit/>
          </a:bodyPr>
          <a:lstStyle/>
          <a:p>
            <a:pPr algn="ctr">
              <a:lnSpc>
                <a:spcPts val="1305"/>
              </a:lnSpc>
            </a:pPr>
            <a:r>
              <a:rPr lang="en-US" sz="1220" spc="244">
                <a:solidFill>
                  <a:srgbClr val="000000"/>
                </a:solidFill>
                <a:latin typeface="Open Sans"/>
                <a:ea typeface="Open Sans"/>
                <a:cs typeface="Open Sans"/>
                <a:sym typeface="Open Sans"/>
              </a:rPr>
              <a:t>NEXT SLIDE</a:t>
            </a:r>
          </a:p>
        </p:txBody>
      </p:sp>
      <p:sp>
        <p:nvSpPr>
          <p:cNvPr name="TextBox 15" id="15"/>
          <p:cNvSpPr txBox="true"/>
          <p:nvPr/>
        </p:nvSpPr>
        <p:spPr>
          <a:xfrm rot="0">
            <a:off x="1598116" y="2702738"/>
            <a:ext cx="8270871" cy="2503959"/>
          </a:xfrm>
          <a:prstGeom prst="rect">
            <a:avLst/>
          </a:prstGeom>
        </p:spPr>
        <p:txBody>
          <a:bodyPr anchor="t" rtlCol="false" tIns="0" lIns="0" bIns="0" rIns="0">
            <a:spAutoFit/>
          </a:bodyPr>
          <a:lstStyle/>
          <a:p>
            <a:pPr algn="just">
              <a:lnSpc>
                <a:spcPts val="4024"/>
              </a:lnSpc>
            </a:pPr>
            <a:r>
              <a:rPr lang="en-US" b="true" sz="2596">
                <a:solidFill>
                  <a:srgbClr val="312B30"/>
                </a:solidFill>
                <a:latin typeface="Fira Sans Bold"/>
                <a:ea typeface="Fira Sans Bold"/>
                <a:cs typeface="Fira Sans Bold"/>
                <a:sym typeface="Fira Sans Bold"/>
              </a:rPr>
              <a:t>Tính liên quan và Ứng dụng:</a:t>
            </a:r>
            <a:r>
              <a:rPr lang="en-US" sz="2596">
                <a:solidFill>
                  <a:srgbClr val="312B30"/>
                </a:solidFill>
                <a:latin typeface="Fira Sans"/>
                <a:ea typeface="Fira Sans"/>
                <a:cs typeface="Fira Sans"/>
                <a:sym typeface="Fira Sans"/>
              </a:rPr>
              <a:t> Hành vi mua sắm là lĩnh vực cốt lõi trong Kinh doanh, Tiếp thị (Marketing) và Khoa học Dữ liệu (Data Science). Phân tích dữ liệu này giúp doanh nghiệp hiểu rõ khách hàng, tối ưu hóa chiến lược sản phẩm, định giá và quảng cáo.</a:t>
            </a:r>
          </a:p>
        </p:txBody>
      </p:sp>
      <p:sp>
        <p:nvSpPr>
          <p:cNvPr name="Freeform 16" id="16"/>
          <p:cNvSpPr/>
          <p:nvPr/>
        </p:nvSpPr>
        <p:spPr>
          <a:xfrm flipH="false" flipV="false" rot="0">
            <a:off x="15700632" y="8892752"/>
            <a:ext cx="1558668" cy="189874"/>
          </a:xfrm>
          <a:custGeom>
            <a:avLst/>
            <a:gdLst/>
            <a:ahLst/>
            <a:cxnLst/>
            <a:rect r="r" b="b" t="t" l="l"/>
            <a:pathLst>
              <a:path h="189874" w="1558668">
                <a:moveTo>
                  <a:pt x="0" y="0"/>
                </a:moveTo>
                <a:lnTo>
                  <a:pt x="1558668" y="0"/>
                </a:lnTo>
                <a:lnTo>
                  <a:pt x="1558668" y="189874"/>
                </a:lnTo>
                <a:lnTo>
                  <a:pt x="0" y="1898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10058400" y="7953284"/>
            <a:ext cx="3420413" cy="34204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9" id="19"/>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20" id="20"/>
          <p:cNvGrpSpPr/>
          <p:nvPr/>
        </p:nvGrpSpPr>
        <p:grpSpPr>
          <a:xfrm rot="0">
            <a:off x="-699139" y="1028700"/>
            <a:ext cx="1398278" cy="139827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2" id="22"/>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23" id="23"/>
          <p:cNvGrpSpPr/>
          <p:nvPr/>
        </p:nvGrpSpPr>
        <p:grpSpPr>
          <a:xfrm rot="0">
            <a:off x="9868986" y="7791832"/>
            <a:ext cx="1466468" cy="146646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25" id="25"/>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Freeform 26" id="26"/>
          <p:cNvSpPr/>
          <p:nvPr/>
        </p:nvSpPr>
        <p:spPr>
          <a:xfrm flipH="false" flipV="false" rot="0">
            <a:off x="-122182" y="6724176"/>
            <a:ext cx="821321" cy="2168576"/>
          </a:xfrm>
          <a:custGeom>
            <a:avLst/>
            <a:gdLst/>
            <a:ahLst/>
            <a:cxnLst/>
            <a:rect r="r" b="b" t="t" l="l"/>
            <a:pathLst>
              <a:path h="2168576" w="821321">
                <a:moveTo>
                  <a:pt x="0" y="0"/>
                </a:moveTo>
                <a:lnTo>
                  <a:pt x="821321" y="0"/>
                </a:lnTo>
                <a:lnTo>
                  <a:pt x="821321" y="2168576"/>
                </a:lnTo>
                <a:lnTo>
                  <a:pt x="0" y="21685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7" id="27"/>
          <p:cNvSpPr txBox="true"/>
          <p:nvPr/>
        </p:nvSpPr>
        <p:spPr>
          <a:xfrm rot="0">
            <a:off x="1598116" y="5772708"/>
            <a:ext cx="8270871" cy="2503959"/>
          </a:xfrm>
          <a:prstGeom prst="rect">
            <a:avLst/>
          </a:prstGeom>
        </p:spPr>
        <p:txBody>
          <a:bodyPr anchor="t" rtlCol="false" tIns="0" lIns="0" bIns="0" rIns="0">
            <a:spAutoFit/>
          </a:bodyPr>
          <a:lstStyle/>
          <a:p>
            <a:pPr algn="just">
              <a:lnSpc>
                <a:spcPts val="4024"/>
              </a:lnSpc>
            </a:pPr>
            <a:r>
              <a:rPr lang="en-US" sz="2596" b="true">
                <a:solidFill>
                  <a:srgbClr val="312B30"/>
                </a:solidFill>
                <a:latin typeface="Fira Sans Bold"/>
                <a:ea typeface="Fira Sans Bold"/>
                <a:cs typeface="Fira Sans Bold"/>
                <a:sym typeface="Fira Sans Bold"/>
              </a:rPr>
              <a:t>Tính đầy đủ &amp; Đa dạng: </a:t>
            </a:r>
            <a:r>
              <a:rPr lang="en-US" sz="2596">
                <a:solidFill>
                  <a:srgbClr val="312B30"/>
                </a:solidFill>
                <a:latin typeface="Fira Sans"/>
                <a:ea typeface="Fira Sans"/>
                <a:cs typeface="Fira Sans"/>
                <a:sym typeface="Fira Sans"/>
              </a:rPr>
              <a:t>Dataset cung cấp nhiều khía cạnh của hành vi mua sắm (tuổi, giới tính, loại hàng, số lượng, giá trị, phương thức thanh toán), cho phép thực hiện các phân tích đa chiều (multivariate analysis) phức tạp.</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187D0">
                <a:alpha val="34000"/>
              </a:srgbClr>
            </a:gs>
            <a:gs pos="100000">
              <a:srgbClr val="FFDE59">
                <a:alpha val="31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1335454" y="-1057467"/>
            <a:ext cx="8593148" cy="859314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5" id="5"/>
          <p:cNvGrpSpPr/>
          <p:nvPr/>
        </p:nvGrpSpPr>
        <p:grpSpPr>
          <a:xfrm rot="0">
            <a:off x="14972716" y="487837"/>
            <a:ext cx="2053742" cy="354893"/>
            <a:chOff x="0" y="0"/>
            <a:chExt cx="1015246" cy="175438"/>
          </a:xfrm>
        </p:grpSpPr>
        <p:sp>
          <p:nvSpPr>
            <p:cNvPr name="Freeform 6" id="6"/>
            <p:cNvSpPr/>
            <p:nvPr/>
          </p:nvSpPr>
          <p:spPr>
            <a:xfrm flipH="false" flipV="false" rot="0">
              <a:off x="0" y="0"/>
              <a:ext cx="1015246" cy="175438"/>
            </a:xfrm>
            <a:custGeom>
              <a:avLst/>
              <a:gdLst/>
              <a:ahLst/>
              <a:cxnLst/>
              <a:rect r="r" b="b" t="t" l="l"/>
              <a:pathLst>
                <a:path h="175438" w="1015246">
                  <a:moveTo>
                    <a:pt x="41466" y="0"/>
                  </a:moveTo>
                  <a:lnTo>
                    <a:pt x="973780" y="0"/>
                  </a:lnTo>
                  <a:cubicBezTo>
                    <a:pt x="984778" y="0"/>
                    <a:pt x="995325" y="4369"/>
                    <a:pt x="1003101" y="12145"/>
                  </a:cubicBezTo>
                  <a:cubicBezTo>
                    <a:pt x="1010878" y="19922"/>
                    <a:pt x="1015246" y="30469"/>
                    <a:pt x="1015246" y="41466"/>
                  </a:cubicBezTo>
                  <a:lnTo>
                    <a:pt x="1015246" y="133971"/>
                  </a:lnTo>
                  <a:cubicBezTo>
                    <a:pt x="1015246" y="156873"/>
                    <a:pt x="996681" y="175438"/>
                    <a:pt x="973780" y="175438"/>
                  </a:cubicBezTo>
                  <a:lnTo>
                    <a:pt x="41466" y="175438"/>
                  </a:lnTo>
                  <a:cubicBezTo>
                    <a:pt x="30469" y="175438"/>
                    <a:pt x="19922" y="171069"/>
                    <a:pt x="12145" y="163293"/>
                  </a:cubicBezTo>
                  <a:cubicBezTo>
                    <a:pt x="4369" y="155516"/>
                    <a:pt x="0" y="144969"/>
                    <a:pt x="0" y="133971"/>
                  </a:cubicBezTo>
                  <a:lnTo>
                    <a:pt x="0" y="41466"/>
                  </a:lnTo>
                  <a:cubicBezTo>
                    <a:pt x="0" y="30469"/>
                    <a:pt x="4369" y="19922"/>
                    <a:pt x="12145" y="12145"/>
                  </a:cubicBezTo>
                  <a:cubicBezTo>
                    <a:pt x="19922" y="4369"/>
                    <a:pt x="30469" y="0"/>
                    <a:pt x="41466" y="0"/>
                  </a:cubicBezTo>
                  <a:close/>
                </a:path>
              </a:pathLst>
            </a:custGeom>
            <a:solidFill>
              <a:srgbClr val="F5E79D">
                <a:alpha val="37647"/>
              </a:srgbClr>
            </a:solidFill>
          </p:spPr>
        </p:sp>
        <p:sp>
          <p:nvSpPr>
            <p:cNvPr name="TextBox 7" id="7"/>
            <p:cNvSpPr txBox="true"/>
            <p:nvPr/>
          </p:nvSpPr>
          <p:spPr>
            <a:xfrm>
              <a:off x="0" y="-38100"/>
              <a:ext cx="1015246" cy="21353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544459" y="487837"/>
            <a:ext cx="481998" cy="354893"/>
            <a:chOff x="0" y="0"/>
            <a:chExt cx="238271" cy="175438"/>
          </a:xfrm>
        </p:grpSpPr>
        <p:sp>
          <p:nvSpPr>
            <p:cNvPr name="Freeform 9" id="9"/>
            <p:cNvSpPr/>
            <p:nvPr/>
          </p:nvSpPr>
          <p:spPr>
            <a:xfrm flipH="false" flipV="false" rot="0">
              <a:off x="0" y="0"/>
              <a:ext cx="238271" cy="175438"/>
            </a:xfrm>
            <a:custGeom>
              <a:avLst/>
              <a:gdLst/>
              <a:ahLst/>
              <a:cxnLst/>
              <a:rect r="r" b="b" t="t" l="l"/>
              <a:pathLst>
                <a:path h="175438" w="238271">
                  <a:moveTo>
                    <a:pt x="87719" y="0"/>
                  </a:moveTo>
                  <a:lnTo>
                    <a:pt x="150552" y="0"/>
                  </a:lnTo>
                  <a:cubicBezTo>
                    <a:pt x="198998" y="0"/>
                    <a:pt x="238271" y="39273"/>
                    <a:pt x="238271" y="87719"/>
                  </a:cubicBezTo>
                  <a:lnTo>
                    <a:pt x="238271" y="87719"/>
                  </a:lnTo>
                  <a:cubicBezTo>
                    <a:pt x="238271" y="136165"/>
                    <a:pt x="198998" y="175438"/>
                    <a:pt x="150552" y="175438"/>
                  </a:cubicBezTo>
                  <a:lnTo>
                    <a:pt x="87719" y="175438"/>
                  </a:lnTo>
                  <a:cubicBezTo>
                    <a:pt x="39273" y="175438"/>
                    <a:pt x="0" y="136165"/>
                    <a:pt x="0" y="87719"/>
                  </a:cubicBezTo>
                  <a:lnTo>
                    <a:pt x="0" y="87719"/>
                  </a:lnTo>
                  <a:cubicBezTo>
                    <a:pt x="0" y="39273"/>
                    <a:pt x="39273" y="0"/>
                    <a:pt x="87719" y="0"/>
                  </a:cubicBezTo>
                  <a:close/>
                </a:path>
              </a:pathLst>
            </a:custGeom>
            <a:solidFill>
              <a:srgbClr val="F7C696">
                <a:alpha val="83922"/>
              </a:srgbClr>
            </a:solidFill>
          </p:spPr>
        </p:sp>
        <p:sp>
          <p:nvSpPr>
            <p:cNvPr name="TextBox 10" id="10"/>
            <p:cNvSpPr txBox="true"/>
            <p:nvPr/>
          </p:nvSpPr>
          <p:spPr>
            <a:xfrm>
              <a:off x="0" y="-38100"/>
              <a:ext cx="238271" cy="213538"/>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675410" y="619366"/>
            <a:ext cx="220097" cy="91835"/>
          </a:xfrm>
          <a:custGeom>
            <a:avLst/>
            <a:gdLst/>
            <a:ahLst/>
            <a:cxnLst/>
            <a:rect r="r" b="b" t="t" l="l"/>
            <a:pathLst>
              <a:path h="91835" w="220097">
                <a:moveTo>
                  <a:pt x="0" y="0"/>
                </a:moveTo>
                <a:lnTo>
                  <a:pt x="220097" y="0"/>
                </a:lnTo>
                <a:lnTo>
                  <a:pt x="220097" y="91834"/>
                </a:lnTo>
                <a:lnTo>
                  <a:pt x="0" y="918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5700632" y="8892752"/>
            <a:ext cx="1558668" cy="189874"/>
          </a:xfrm>
          <a:custGeom>
            <a:avLst/>
            <a:gdLst/>
            <a:ahLst/>
            <a:cxnLst/>
            <a:rect r="r" b="b" t="t" l="l"/>
            <a:pathLst>
              <a:path h="189874" w="1558668">
                <a:moveTo>
                  <a:pt x="0" y="0"/>
                </a:moveTo>
                <a:lnTo>
                  <a:pt x="1558668" y="0"/>
                </a:lnTo>
                <a:lnTo>
                  <a:pt x="1558668" y="189874"/>
                </a:lnTo>
                <a:lnTo>
                  <a:pt x="0" y="1898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0058400" y="7953284"/>
            <a:ext cx="3420413" cy="342041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5" id="15"/>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16" id="16"/>
          <p:cNvGrpSpPr/>
          <p:nvPr/>
        </p:nvGrpSpPr>
        <p:grpSpPr>
          <a:xfrm rot="0">
            <a:off x="-699139" y="1028700"/>
            <a:ext cx="1398278" cy="139827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8" id="18"/>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19" id="19"/>
          <p:cNvGrpSpPr/>
          <p:nvPr/>
        </p:nvGrpSpPr>
        <p:grpSpPr>
          <a:xfrm rot="0">
            <a:off x="9868986" y="7791832"/>
            <a:ext cx="1466468" cy="146646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C4D2"/>
            </a:solidFill>
          </p:spPr>
        </p:sp>
        <p:sp>
          <p:nvSpPr>
            <p:cNvPr name="TextBox 21" id="21"/>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Freeform 22" id="22"/>
          <p:cNvSpPr/>
          <p:nvPr/>
        </p:nvSpPr>
        <p:spPr>
          <a:xfrm flipH="false" flipV="false" rot="0">
            <a:off x="-122182" y="6724176"/>
            <a:ext cx="821321" cy="2168576"/>
          </a:xfrm>
          <a:custGeom>
            <a:avLst/>
            <a:gdLst/>
            <a:ahLst/>
            <a:cxnLst/>
            <a:rect r="r" b="b" t="t" l="l"/>
            <a:pathLst>
              <a:path h="2168576" w="821321">
                <a:moveTo>
                  <a:pt x="0" y="0"/>
                </a:moveTo>
                <a:lnTo>
                  <a:pt x="821321" y="0"/>
                </a:lnTo>
                <a:lnTo>
                  <a:pt x="821321" y="2168576"/>
                </a:lnTo>
                <a:lnTo>
                  <a:pt x="0" y="21685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true" flipV="false" rot="0">
            <a:off x="10953750" y="1204160"/>
            <a:ext cx="6761818" cy="6331520"/>
          </a:xfrm>
          <a:custGeom>
            <a:avLst/>
            <a:gdLst/>
            <a:ahLst/>
            <a:cxnLst/>
            <a:rect r="r" b="b" t="t" l="l"/>
            <a:pathLst>
              <a:path h="6331520" w="6761818">
                <a:moveTo>
                  <a:pt x="6761818" y="0"/>
                </a:moveTo>
                <a:lnTo>
                  <a:pt x="0" y="0"/>
                </a:lnTo>
                <a:lnTo>
                  <a:pt x="0" y="6331520"/>
                </a:lnTo>
                <a:lnTo>
                  <a:pt x="6761818" y="6331520"/>
                </a:lnTo>
                <a:lnTo>
                  <a:pt x="676181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4" id="24"/>
          <p:cNvSpPr txBox="true"/>
          <p:nvPr/>
        </p:nvSpPr>
        <p:spPr>
          <a:xfrm rot="0">
            <a:off x="14972716" y="591810"/>
            <a:ext cx="1571743" cy="165735"/>
          </a:xfrm>
          <a:prstGeom prst="rect">
            <a:avLst/>
          </a:prstGeom>
        </p:spPr>
        <p:txBody>
          <a:bodyPr anchor="t" rtlCol="false" tIns="0" lIns="0" bIns="0" rIns="0">
            <a:spAutoFit/>
          </a:bodyPr>
          <a:lstStyle/>
          <a:p>
            <a:pPr algn="ctr">
              <a:lnSpc>
                <a:spcPts val="1305"/>
              </a:lnSpc>
            </a:pPr>
            <a:r>
              <a:rPr lang="en-US" sz="1220" spc="244">
                <a:solidFill>
                  <a:srgbClr val="000000"/>
                </a:solidFill>
                <a:latin typeface="Open Sans"/>
                <a:ea typeface="Open Sans"/>
                <a:cs typeface="Open Sans"/>
                <a:sym typeface="Open Sans"/>
              </a:rPr>
              <a:t>NEXT SLIDE</a:t>
            </a:r>
          </a:p>
        </p:txBody>
      </p:sp>
      <p:sp>
        <p:nvSpPr>
          <p:cNvPr name="TextBox 25" id="25"/>
          <p:cNvSpPr txBox="true"/>
          <p:nvPr/>
        </p:nvSpPr>
        <p:spPr>
          <a:xfrm rot="0">
            <a:off x="1598116" y="4337171"/>
            <a:ext cx="10170491" cy="790575"/>
          </a:xfrm>
          <a:prstGeom prst="rect">
            <a:avLst/>
          </a:prstGeom>
        </p:spPr>
        <p:txBody>
          <a:bodyPr anchor="t" rtlCol="false" tIns="0" lIns="0" bIns="0" rIns="0">
            <a:spAutoFit/>
          </a:bodyPr>
          <a:lstStyle/>
          <a:p>
            <a:pPr algn="l">
              <a:lnSpc>
                <a:spcPts val="3115"/>
              </a:lnSpc>
            </a:pPr>
            <a:r>
              <a:rPr lang="en-US" sz="2596">
                <a:solidFill>
                  <a:srgbClr val="312B30"/>
                </a:solidFill>
                <a:latin typeface="Open Sans"/>
                <a:ea typeface="Open Sans"/>
                <a:cs typeface="Open Sans"/>
                <a:sym typeface="Open Sans"/>
              </a:rPr>
              <a:t>Nguồn gốc: Thường là các nền tảng Kaggle, UCI Machine Learning Repository, hoặc dữ liệu mô phỏng cho mục đích học tập.</a:t>
            </a:r>
          </a:p>
        </p:txBody>
      </p:sp>
      <p:sp>
        <p:nvSpPr>
          <p:cNvPr name="TextBox 26" id="26"/>
          <p:cNvSpPr txBox="true"/>
          <p:nvPr/>
        </p:nvSpPr>
        <p:spPr>
          <a:xfrm rot="0">
            <a:off x="1598116" y="5587264"/>
            <a:ext cx="10773911" cy="790575"/>
          </a:xfrm>
          <a:prstGeom prst="rect">
            <a:avLst/>
          </a:prstGeom>
        </p:spPr>
        <p:txBody>
          <a:bodyPr anchor="t" rtlCol="false" tIns="0" lIns="0" bIns="0" rIns="0">
            <a:spAutoFit/>
          </a:bodyPr>
          <a:lstStyle/>
          <a:p>
            <a:pPr algn="l">
              <a:lnSpc>
                <a:spcPts val="3115"/>
              </a:lnSpc>
            </a:pPr>
            <a:r>
              <a:rPr lang="en-US" sz="2596">
                <a:solidFill>
                  <a:srgbClr val="FFFFFF"/>
                </a:solidFill>
                <a:latin typeface="Open Sans"/>
                <a:ea typeface="Open Sans"/>
                <a:cs typeface="Open Sans"/>
                <a:sym typeface="Open Sans"/>
              </a:rPr>
              <a:t>Lĩnh vực: Thương mại điện tử/Bán lẻ (E-commerce/Retail) và phân tích hành vi khách hàng.</a:t>
            </a:r>
          </a:p>
        </p:txBody>
      </p:sp>
      <p:sp>
        <p:nvSpPr>
          <p:cNvPr name="TextBox 27" id="27"/>
          <p:cNvSpPr txBox="true"/>
          <p:nvPr/>
        </p:nvSpPr>
        <p:spPr>
          <a:xfrm rot="0">
            <a:off x="1598116" y="6835039"/>
            <a:ext cx="10172304" cy="1571625"/>
          </a:xfrm>
          <a:prstGeom prst="rect">
            <a:avLst/>
          </a:prstGeom>
        </p:spPr>
        <p:txBody>
          <a:bodyPr anchor="t" rtlCol="false" tIns="0" lIns="0" bIns="0" rIns="0">
            <a:spAutoFit/>
          </a:bodyPr>
          <a:lstStyle/>
          <a:p>
            <a:pPr algn="l">
              <a:lnSpc>
                <a:spcPts val="3115"/>
              </a:lnSpc>
            </a:pPr>
            <a:r>
              <a:rPr lang="en-US" sz="2596">
                <a:solidFill>
                  <a:srgbClr val="FFFFFF"/>
                </a:solidFill>
                <a:latin typeface="Open Sans"/>
                <a:ea typeface="Open Sans"/>
                <a:cs typeface="Open Sans"/>
                <a:sym typeface="Open Sans"/>
              </a:rPr>
              <a:t>Số lượng dòng/cột (Giả định):</a:t>
            </a:r>
          </a:p>
          <a:p>
            <a:pPr algn="l" marL="560591" indent="-280295" lvl="1">
              <a:lnSpc>
                <a:spcPts val="3115"/>
              </a:lnSpc>
              <a:buFont typeface="Arial"/>
              <a:buChar char="•"/>
            </a:pPr>
            <a:r>
              <a:rPr lang="en-US" sz="2596">
                <a:solidFill>
                  <a:srgbClr val="FFFFFF"/>
                </a:solidFill>
                <a:latin typeface="Open Sans"/>
                <a:ea typeface="Open Sans"/>
                <a:cs typeface="Open Sans"/>
                <a:sym typeface="Open Sans"/>
              </a:rPr>
              <a:t>Số lượng dòng (Bản ghi/Khách hàng): Khoảng $3900$ bản ghi.</a:t>
            </a:r>
          </a:p>
          <a:p>
            <a:pPr algn="l" marL="560591" indent="-280295" lvl="1">
              <a:lnSpc>
                <a:spcPts val="3115"/>
              </a:lnSpc>
              <a:buFont typeface="Arial"/>
              <a:buChar char="•"/>
            </a:pPr>
            <a:r>
              <a:rPr lang="en-US" sz="2596">
                <a:solidFill>
                  <a:srgbClr val="FFFFFF"/>
                </a:solidFill>
                <a:latin typeface="Open Sans"/>
                <a:ea typeface="Open Sans"/>
                <a:cs typeface="Open Sans"/>
                <a:sym typeface="Open Sans"/>
              </a:rPr>
              <a:t>Số lượng cột (Thuộc tính): Khoảng $18$ cột.</a:t>
            </a:r>
          </a:p>
          <a:p>
            <a:pPr algn="l">
              <a:lnSpc>
                <a:spcPts val="3115"/>
              </a:lnSpc>
            </a:pPr>
          </a:p>
        </p:txBody>
      </p:sp>
      <p:sp>
        <p:nvSpPr>
          <p:cNvPr name="TextBox 28" id="28"/>
          <p:cNvSpPr txBox="true"/>
          <p:nvPr/>
        </p:nvSpPr>
        <p:spPr>
          <a:xfrm rot="0">
            <a:off x="1553992" y="2333746"/>
            <a:ext cx="9781462" cy="1546225"/>
          </a:xfrm>
          <a:prstGeom prst="rect">
            <a:avLst/>
          </a:prstGeom>
        </p:spPr>
        <p:txBody>
          <a:bodyPr anchor="t" rtlCol="false" tIns="0" lIns="0" bIns="0" rIns="0">
            <a:spAutoFit/>
          </a:bodyPr>
          <a:lstStyle/>
          <a:p>
            <a:pPr algn="l">
              <a:lnSpc>
                <a:spcPts val="6050"/>
              </a:lnSpc>
            </a:pPr>
            <a:r>
              <a:rPr lang="en-US" sz="5500" b="true">
                <a:solidFill>
                  <a:srgbClr val="252525"/>
                </a:solidFill>
                <a:latin typeface="Fira Sans Bold"/>
                <a:ea typeface="Fira Sans Bold"/>
                <a:cs typeface="Fira Sans Bold"/>
                <a:sym typeface="Fira Sans Bold"/>
              </a:rPr>
              <a:t>GIỚI THIỆU TỔNG QUAN DATASET</a:t>
            </a:r>
          </a:p>
        </p:txBody>
      </p:sp>
    </p:spTree>
  </p:cSld>
  <p:clrMapOvr>
    <a:masterClrMapping/>
  </p:clrMapOvr>
  <p:transition spd="slow">
    <p:push dir="u"/>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8266">
                <a:alpha val="51000"/>
              </a:srgbClr>
            </a:gs>
            <a:gs pos="100000">
              <a:srgbClr val="FFDE59">
                <a:alpha val="205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14972716" y="487837"/>
            <a:ext cx="2053742" cy="354893"/>
            <a:chOff x="0" y="0"/>
            <a:chExt cx="1015246" cy="175438"/>
          </a:xfrm>
        </p:grpSpPr>
        <p:sp>
          <p:nvSpPr>
            <p:cNvPr name="Freeform 3" id="3"/>
            <p:cNvSpPr/>
            <p:nvPr/>
          </p:nvSpPr>
          <p:spPr>
            <a:xfrm flipH="false" flipV="false" rot="0">
              <a:off x="0" y="0"/>
              <a:ext cx="1015246" cy="175438"/>
            </a:xfrm>
            <a:custGeom>
              <a:avLst/>
              <a:gdLst/>
              <a:ahLst/>
              <a:cxnLst/>
              <a:rect r="r" b="b" t="t" l="l"/>
              <a:pathLst>
                <a:path h="175438" w="1015246">
                  <a:moveTo>
                    <a:pt x="41466" y="0"/>
                  </a:moveTo>
                  <a:lnTo>
                    <a:pt x="973780" y="0"/>
                  </a:lnTo>
                  <a:cubicBezTo>
                    <a:pt x="984778" y="0"/>
                    <a:pt x="995325" y="4369"/>
                    <a:pt x="1003101" y="12145"/>
                  </a:cubicBezTo>
                  <a:cubicBezTo>
                    <a:pt x="1010878" y="19922"/>
                    <a:pt x="1015246" y="30469"/>
                    <a:pt x="1015246" y="41466"/>
                  </a:cubicBezTo>
                  <a:lnTo>
                    <a:pt x="1015246" y="133971"/>
                  </a:lnTo>
                  <a:cubicBezTo>
                    <a:pt x="1015246" y="156873"/>
                    <a:pt x="996681" y="175438"/>
                    <a:pt x="973780" y="175438"/>
                  </a:cubicBezTo>
                  <a:lnTo>
                    <a:pt x="41466" y="175438"/>
                  </a:lnTo>
                  <a:cubicBezTo>
                    <a:pt x="30469" y="175438"/>
                    <a:pt x="19922" y="171069"/>
                    <a:pt x="12145" y="163293"/>
                  </a:cubicBezTo>
                  <a:cubicBezTo>
                    <a:pt x="4369" y="155516"/>
                    <a:pt x="0" y="144969"/>
                    <a:pt x="0" y="133971"/>
                  </a:cubicBezTo>
                  <a:lnTo>
                    <a:pt x="0" y="41466"/>
                  </a:lnTo>
                  <a:cubicBezTo>
                    <a:pt x="0" y="30469"/>
                    <a:pt x="4369" y="19922"/>
                    <a:pt x="12145" y="12145"/>
                  </a:cubicBezTo>
                  <a:cubicBezTo>
                    <a:pt x="19922" y="4369"/>
                    <a:pt x="30469" y="0"/>
                    <a:pt x="41466" y="0"/>
                  </a:cubicBezTo>
                  <a:close/>
                </a:path>
              </a:pathLst>
            </a:custGeom>
            <a:solidFill>
              <a:srgbClr val="FFFFFF">
                <a:alpha val="37647"/>
              </a:srgbClr>
            </a:solidFill>
          </p:spPr>
        </p:sp>
        <p:sp>
          <p:nvSpPr>
            <p:cNvPr name="TextBox 4" id="4"/>
            <p:cNvSpPr txBox="true"/>
            <p:nvPr/>
          </p:nvSpPr>
          <p:spPr>
            <a:xfrm>
              <a:off x="0" y="-38100"/>
              <a:ext cx="1015246" cy="21353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544459" y="487837"/>
            <a:ext cx="481998" cy="354893"/>
            <a:chOff x="0" y="0"/>
            <a:chExt cx="238271" cy="175438"/>
          </a:xfrm>
        </p:grpSpPr>
        <p:sp>
          <p:nvSpPr>
            <p:cNvPr name="Freeform 6" id="6"/>
            <p:cNvSpPr/>
            <p:nvPr/>
          </p:nvSpPr>
          <p:spPr>
            <a:xfrm flipH="false" flipV="false" rot="0">
              <a:off x="0" y="0"/>
              <a:ext cx="238271" cy="175438"/>
            </a:xfrm>
            <a:custGeom>
              <a:avLst/>
              <a:gdLst/>
              <a:ahLst/>
              <a:cxnLst/>
              <a:rect r="r" b="b" t="t" l="l"/>
              <a:pathLst>
                <a:path h="175438" w="238271">
                  <a:moveTo>
                    <a:pt x="87719" y="0"/>
                  </a:moveTo>
                  <a:lnTo>
                    <a:pt x="150552" y="0"/>
                  </a:lnTo>
                  <a:cubicBezTo>
                    <a:pt x="198998" y="0"/>
                    <a:pt x="238271" y="39273"/>
                    <a:pt x="238271" y="87719"/>
                  </a:cubicBezTo>
                  <a:lnTo>
                    <a:pt x="238271" y="87719"/>
                  </a:lnTo>
                  <a:cubicBezTo>
                    <a:pt x="238271" y="136165"/>
                    <a:pt x="198998" y="175438"/>
                    <a:pt x="150552" y="175438"/>
                  </a:cubicBezTo>
                  <a:lnTo>
                    <a:pt x="87719" y="175438"/>
                  </a:lnTo>
                  <a:cubicBezTo>
                    <a:pt x="39273" y="175438"/>
                    <a:pt x="0" y="136165"/>
                    <a:pt x="0" y="87719"/>
                  </a:cubicBezTo>
                  <a:lnTo>
                    <a:pt x="0" y="87719"/>
                  </a:lnTo>
                  <a:cubicBezTo>
                    <a:pt x="0" y="39273"/>
                    <a:pt x="39273" y="0"/>
                    <a:pt x="87719" y="0"/>
                  </a:cubicBezTo>
                  <a:close/>
                </a:path>
              </a:pathLst>
            </a:custGeom>
            <a:solidFill>
              <a:srgbClr val="FFFFFF">
                <a:alpha val="83922"/>
              </a:srgbClr>
            </a:solidFill>
          </p:spPr>
        </p:sp>
        <p:sp>
          <p:nvSpPr>
            <p:cNvPr name="TextBox 7" id="7"/>
            <p:cNvSpPr txBox="true"/>
            <p:nvPr/>
          </p:nvSpPr>
          <p:spPr>
            <a:xfrm>
              <a:off x="0" y="-38100"/>
              <a:ext cx="238271" cy="21353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6675410" y="619366"/>
            <a:ext cx="220097" cy="91835"/>
          </a:xfrm>
          <a:custGeom>
            <a:avLst/>
            <a:gdLst/>
            <a:ahLst/>
            <a:cxnLst/>
            <a:rect r="r" b="b" t="t" l="l"/>
            <a:pathLst>
              <a:path h="91835" w="220097">
                <a:moveTo>
                  <a:pt x="0" y="0"/>
                </a:moveTo>
                <a:lnTo>
                  <a:pt x="220097" y="0"/>
                </a:lnTo>
                <a:lnTo>
                  <a:pt x="220097" y="91834"/>
                </a:lnTo>
                <a:lnTo>
                  <a:pt x="0" y="918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259300" y="1587460"/>
            <a:ext cx="1398278" cy="139827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Freeform 12" id="12"/>
          <p:cNvSpPr/>
          <p:nvPr/>
        </p:nvSpPr>
        <p:spPr>
          <a:xfrm flipH="false" flipV="false" rot="0">
            <a:off x="17551749" y="6724176"/>
            <a:ext cx="821321" cy="2168576"/>
          </a:xfrm>
          <a:custGeom>
            <a:avLst/>
            <a:gdLst/>
            <a:ahLst/>
            <a:cxnLst/>
            <a:rect r="r" b="b" t="t" l="l"/>
            <a:pathLst>
              <a:path h="2168576" w="821321">
                <a:moveTo>
                  <a:pt x="0" y="0"/>
                </a:moveTo>
                <a:lnTo>
                  <a:pt x="821321" y="0"/>
                </a:lnTo>
                <a:lnTo>
                  <a:pt x="821321" y="2168576"/>
                </a:lnTo>
                <a:lnTo>
                  <a:pt x="0" y="2168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4972716" y="591810"/>
            <a:ext cx="1571743" cy="165735"/>
          </a:xfrm>
          <a:prstGeom prst="rect">
            <a:avLst/>
          </a:prstGeom>
        </p:spPr>
        <p:txBody>
          <a:bodyPr anchor="t" rtlCol="false" tIns="0" lIns="0" bIns="0" rIns="0">
            <a:spAutoFit/>
          </a:bodyPr>
          <a:lstStyle/>
          <a:p>
            <a:pPr algn="ctr">
              <a:lnSpc>
                <a:spcPts val="1305"/>
              </a:lnSpc>
            </a:pPr>
            <a:r>
              <a:rPr lang="en-US" sz="1220" spc="244">
                <a:solidFill>
                  <a:srgbClr val="000000"/>
                </a:solidFill>
                <a:latin typeface="Open Sans"/>
                <a:ea typeface="Open Sans"/>
                <a:cs typeface="Open Sans"/>
                <a:sym typeface="Open Sans"/>
              </a:rPr>
              <a:t>NEXT SLIDE</a:t>
            </a:r>
          </a:p>
        </p:txBody>
      </p:sp>
      <p:grpSp>
        <p:nvGrpSpPr>
          <p:cNvPr name="Group 14" id="14"/>
          <p:cNvGrpSpPr/>
          <p:nvPr/>
        </p:nvGrpSpPr>
        <p:grpSpPr>
          <a:xfrm rot="0">
            <a:off x="4147620" y="1727839"/>
            <a:ext cx="9992760" cy="999276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6" id="16"/>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TextBox 17" id="17"/>
          <p:cNvSpPr txBox="true"/>
          <p:nvPr/>
        </p:nvSpPr>
        <p:spPr>
          <a:xfrm rot="0">
            <a:off x="4278600" y="1003899"/>
            <a:ext cx="9730800" cy="2432050"/>
          </a:xfrm>
          <a:prstGeom prst="rect">
            <a:avLst/>
          </a:prstGeom>
        </p:spPr>
        <p:txBody>
          <a:bodyPr anchor="t" rtlCol="false" tIns="0" lIns="0" bIns="0" rIns="0">
            <a:spAutoFit/>
          </a:bodyPr>
          <a:lstStyle/>
          <a:p>
            <a:pPr algn="ctr">
              <a:lnSpc>
                <a:spcPts val="9799"/>
              </a:lnSpc>
            </a:pPr>
            <a:r>
              <a:rPr lang="en-US" b="true" sz="6999">
                <a:solidFill>
                  <a:srgbClr val="252525"/>
                </a:solidFill>
                <a:latin typeface="Fira Sans Bold"/>
                <a:ea typeface="Fira Sans Bold"/>
                <a:cs typeface="Fira Sans Bold"/>
                <a:sym typeface="Fira Sans Bold"/>
              </a:rPr>
              <a:t>THÔNG TIN CÁC CỘT (CÁC CỘT QUAN TRỌNG)</a:t>
            </a:r>
          </a:p>
        </p:txBody>
      </p:sp>
      <p:sp>
        <p:nvSpPr>
          <p:cNvPr name="Freeform 18" id="18"/>
          <p:cNvSpPr/>
          <p:nvPr/>
        </p:nvSpPr>
        <p:spPr>
          <a:xfrm flipH="false" flipV="false" rot="0">
            <a:off x="4629073" y="3323186"/>
            <a:ext cx="9029854" cy="6019903"/>
          </a:xfrm>
          <a:custGeom>
            <a:avLst/>
            <a:gdLst/>
            <a:ahLst/>
            <a:cxnLst/>
            <a:rect r="r" b="b" t="t" l="l"/>
            <a:pathLst>
              <a:path h="6019903" w="9029854">
                <a:moveTo>
                  <a:pt x="0" y="0"/>
                </a:moveTo>
                <a:lnTo>
                  <a:pt x="9029854" y="0"/>
                </a:lnTo>
                <a:lnTo>
                  <a:pt x="9029854" y="6019902"/>
                </a:lnTo>
                <a:lnTo>
                  <a:pt x="0" y="60199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028700" y="3728245"/>
            <a:ext cx="4150998" cy="5934798"/>
          </a:xfrm>
          <a:prstGeom prst="rect">
            <a:avLst/>
          </a:prstGeom>
        </p:spPr>
        <p:txBody>
          <a:bodyPr anchor="t" rtlCol="false" tIns="0" lIns="0" bIns="0" rIns="0">
            <a:spAutoFit/>
          </a:bodyPr>
          <a:lstStyle/>
          <a:p>
            <a:pPr algn="l" marL="560591" indent="-280295" lvl="1">
              <a:lnSpc>
                <a:spcPts val="3635"/>
              </a:lnSpc>
              <a:buFont typeface="Arial"/>
              <a:buChar char="•"/>
            </a:pPr>
            <a:r>
              <a:rPr lang="en-US" sz="2596">
                <a:solidFill>
                  <a:srgbClr val="312B30"/>
                </a:solidFill>
                <a:latin typeface="Open Sans"/>
                <a:ea typeface="Open Sans"/>
                <a:cs typeface="Open Sans"/>
                <a:sym typeface="Open Sans"/>
              </a:rPr>
              <a:t>Customer ID: Định danh khách hàng.</a:t>
            </a:r>
          </a:p>
          <a:p>
            <a:pPr algn="l" marL="560591" indent="-280295" lvl="1">
              <a:lnSpc>
                <a:spcPts val="3635"/>
              </a:lnSpc>
              <a:buFont typeface="Arial"/>
              <a:buChar char="•"/>
            </a:pPr>
            <a:r>
              <a:rPr lang="en-US" sz="2596">
                <a:solidFill>
                  <a:srgbClr val="312B30"/>
                </a:solidFill>
                <a:latin typeface="Open Sans"/>
                <a:ea typeface="Open Sans"/>
                <a:cs typeface="Open Sans"/>
                <a:sym typeface="Open Sans"/>
              </a:rPr>
              <a:t>Age: Tuổi của khách hàng (biến số).</a:t>
            </a:r>
          </a:p>
          <a:p>
            <a:pPr algn="l" marL="560591" indent="-280295" lvl="1">
              <a:lnSpc>
                <a:spcPts val="3635"/>
              </a:lnSpc>
              <a:buFont typeface="Arial"/>
              <a:buChar char="•"/>
            </a:pPr>
            <a:r>
              <a:rPr lang="en-US" sz="2596">
                <a:solidFill>
                  <a:srgbClr val="312B30"/>
                </a:solidFill>
                <a:latin typeface="Open Sans"/>
                <a:ea typeface="Open Sans"/>
                <a:cs typeface="Open Sans"/>
                <a:sym typeface="Open Sans"/>
              </a:rPr>
              <a:t>Gender: Giới tính (biến phân loại).</a:t>
            </a:r>
          </a:p>
          <a:p>
            <a:pPr algn="l" marL="560591" indent="-280295" lvl="1">
              <a:lnSpc>
                <a:spcPts val="3635"/>
              </a:lnSpc>
              <a:buFont typeface="Arial"/>
              <a:buChar char="•"/>
            </a:pPr>
            <a:r>
              <a:rPr lang="en-US" sz="2596">
                <a:solidFill>
                  <a:srgbClr val="312B30"/>
                </a:solidFill>
                <a:latin typeface="Open Sans"/>
                <a:ea typeface="Open Sans"/>
                <a:cs typeface="Open Sans"/>
                <a:sym typeface="Open Sans"/>
              </a:rPr>
              <a:t>Category: Danh mục sản phẩm đã mua (e.g., Clothing, Cosmetics, Shoes).</a:t>
            </a:r>
          </a:p>
          <a:p>
            <a:pPr algn="l" marL="560591" indent="-280295" lvl="1">
              <a:lnSpc>
                <a:spcPts val="3635"/>
              </a:lnSpc>
              <a:buFont typeface="Arial"/>
              <a:buChar char="•"/>
            </a:pPr>
            <a:r>
              <a:rPr lang="en-US" sz="2596">
                <a:solidFill>
                  <a:srgbClr val="312B30"/>
                </a:solidFill>
                <a:latin typeface="Open Sans"/>
                <a:ea typeface="Open Sans"/>
                <a:cs typeface="Open Sans"/>
                <a:sym typeface="Open Sans"/>
              </a:rPr>
              <a:t>Purchase Amount (USD): Tổng giá trị mua hàng (biến số).</a:t>
            </a:r>
          </a:p>
        </p:txBody>
      </p:sp>
      <p:sp>
        <p:nvSpPr>
          <p:cNvPr name="TextBox 20" id="20"/>
          <p:cNvSpPr txBox="true"/>
          <p:nvPr/>
        </p:nvSpPr>
        <p:spPr>
          <a:xfrm rot="0">
            <a:off x="13108302" y="3499602"/>
            <a:ext cx="4150998" cy="6391998"/>
          </a:xfrm>
          <a:prstGeom prst="rect">
            <a:avLst/>
          </a:prstGeom>
        </p:spPr>
        <p:txBody>
          <a:bodyPr anchor="t" rtlCol="false" tIns="0" lIns="0" bIns="0" rIns="0">
            <a:spAutoFit/>
          </a:bodyPr>
          <a:lstStyle/>
          <a:p>
            <a:pPr algn="l" marL="560591" indent="-280295" lvl="1">
              <a:lnSpc>
                <a:spcPts val="3635"/>
              </a:lnSpc>
              <a:buFont typeface="Arial"/>
              <a:buChar char="•"/>
            </a:pPr>
            <a:r>
              <a:rPr lang="en-US" sz="2596">
                <a:solidFill>
                  <a:srgbClr val="312B30"/>
                </a:solidFill>
                <a:latin typeface="Open Sans"/>
                <a:ea typeface="Open Sans"/>
                <a:cs typeface="Open Sans"/>
                <a:sym typeface="Open Sans"/>
              </a:rPr>
              <a:t>Location: Vị trí địa lý của khách hàng.</a:t>
            </a:r>
          </a:p>
          <a:p>
            <a:pPr algn="l" marL="560591" indent="-280295" lvl="1">
              <a:lnSpc>
                <a:spcPts val="3635"/>
              </a:lnSpc>
              <a:buFont typeface="Arial"/>
              <a:buChar char="•"/>
            </a:pPr>
            <a:r>
              <a:rPr lang="en-US" sz="2596">
                <a:solidFill>
                  <a:srgbClr val="312B30"/>
                </a:solidFill>
                <a:latin typeface="Open Sans"/>
                <a:ea typeface="Open Sans"/>
                <a:cs typeface="Open Sans"/>
                <a:sym typeface="Open Sans"/>
              </a:rPr>
              <a:t>Payment M</a:t>
            </a:r>
            <a:r>
              <a:rPr lang="en-US" sz="2596">
                <a:solidFill>
                  <a:srgbClr val="312B30"/>
                </a:solidFill>
                <a:latin typeface="Open Sans"/>
                <a:ea typeface="Open Sans"/>
                <a:cs typeface="Open Sans"/>
                <a:sym typeface="Open Sans"/>
              </a:rPr>
              <a:t>ethod: Phương thức thanh toán (e.g., Credit Card, PayPal, Cash).</a:t>
            </a:r>
          </a:p>
          <a:p>
            <a:pPr algn="l" marL="560591" indent="-280295" lvl="1">
              <a:lnSpc>
                <a:spcPts val="3635"/>
              </a:lnSpc>
              <a:buFont typeface="Arial"/>
              <a:buChar char="•"/>
            </a:pPr>
            <a:r>
              <a:rPr lang="en-US" sz="2596">
                <a:solidFill>
                  <a:srgbClr val="312B30"/>
                </a:solidFill>
                <a:latin typeface="Open Sans"/>
                <a:ea typeface="Open Sans"/>
                <a:cs typeface="Open Sans"/>
                <a:sym typeface="Open Sans"/>
              </a:rPr>
              <a:t>Fr</a:t>
            </a:r>
            <a:r>
              <a:rPr lang="en-US" sz="2596">
                <a:solidFill>
                  <a:srgbClr val="312B30"/>
                </a:solidFill>
                <a:latin typeface="Open Sans"/>
                <a:ea typeface="Open Sans"/>
                <a:cs typeface="Open Sans"/>
                <a:sym typeface="Open Sans"/>
              </a:rPr>
              <a:t>equency of Purchase: Tần suất mua hàng (e.g., Annually, Quarterly, Monthly).</a:t>
            </a:r>
          </a:p>
          <a:p>
            <a:pPr algn="l" marL="560591" indent="-280295" lvl="1">
              <a:lnSpc>
                <a:spcPts val="3635"/>
              </a:lnSpc>
              <a:buFont typeface="Arial"/>
              <a:buChar char="•"/>
            </a:pPr>
            <a:r>
              <a:rPr lang="en-US" sz="2596">
                <a:solidFill>
                  <a:srgbClr val="312B30"/>
                </a:solidFill>
                <a:latin typeface="Open Sans"/>
                <a:ea typeface="Open Sans"/>
                <a:cs typeface="Open Sans"/>
                <a:sym typeface="Open Sans"/>
              </a:rPr>
              <a:t>Revi</a:t>
            </a:r>
            <a:r>
              <a:rPr lang="en-US" sz="2596">
                <a:solidFill>
                  <a:srgbClr val="312B30"/>
                </a:solidFill>
                <a:latin typeface="Open Sans"/>
                <a:ea typeface="Open Sans"/>
                <a:cs typeface="Open Sans"/>
                <a:sym typeface="Open Sans"/>
              </a:rPr>
              <a:t>ew Rating: Đánh giá của khách hàng (biến số).</a:t>
            </a:r>
          </a:p>
        </p:txBody>
      </p:sp>
      <p:grpSp>
        <p:nvGrpSpPr>
          <p:cNvPr name="Group 21" id="21"/>
          <p:cNvGrpSpPr/>
          <p:nvPr/>
        </p:nvGrpSpPr>
        <p:grpSpPr>
          <a:xfrm rot="-10800000">
            <a:off x="-776213" y="-1125780"/>
            <a:ext cx="3420413" cy="342041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3" id="23"/>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24" id="24"/>
          <p:cNvGrpSpPr/>
          <p:nvPr/>
        </p:nvGrpSpPr>
        <p:grpSpPr>
          <a:xfrm rot="-10800000">
            <a:off x="1367145" y="989617"/>
            <a:ext cx="1466468" cy="1466468"/>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C4D2"/>
            </a:solidFill>
          </p:spPr>
        </p:sp>
        <p:sp>
          <p:nvSpPr>
            <p:cNvPr name="TextBox 26" id="26"/>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Freeform 27" id="27"/>
          <p:cNvSpPr/>
          <p:nvPr/>
        </p:nvSpPr>
        <p:spPr>
          <a:xfrm flipH="false" flipV="false" rot="0">
            <a:off x="8364666" y="9701726"/>
            <a:ext cx="1558668" cy="189874"/>
          </a:xfrm>
          <a:custGeom>
            <a:avLst/>
            <a:gdLst/>
            <a:ahLst/>
            <a:cxnLst/>
            <a:rect r="r" b="b" t="t" l="l"/>
            <a:pathLst>
              <a:path h="189874" w="1558668">
                <a:moveTo>
                  <a:pt x="0" y="0"/>
                </a:moveTo>
                <a:lnTo>
                  <a:pt x="1558668" y="0"/>
                </a:lnTo>
                <a:lnTo>
                  <a:pt x="1558668" y="189874"/>
                </a:lnTo>
                <a:lnTo>
                  <a:pt x="0" y="1898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8" id="28"/>
          <p:cNvGrpSpPr/>
          <p:nvPr/>
        </p:nvGrpSpPr>
        <p:grpSpPr>
          <a:xfrm rot="0">
            <a:off x="10719967" y="9504540"/>
            <a:ext cx="3420413" cy="342041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0" id="30"/>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31" id="31"/>
          <p:cNvGrpSpPr/>
          <p:nvPr/>
        </p:nvGrpSpPr>
        <p:grpSpPr>
          <a:xfrm rot="0">
            <a:off x="10530553" y="9343088"/>
            <a:ext cx="1466468" cy="146646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33" id="33"/>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Tree>
  </p:cSld>
  <p:clrMapOvr>
    <a:masterClrMapping/>
  </p:clrMapOvr>
  <p:transition spd="slow">
    <p:push dir="r"/>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7D9"/>
        </a:solidFill>
      </p:bgPr>
    </p:bg>
    <p:spTree>
      <p:nvGrpSpPr>
        <p:cNvPr id="1" name=""/>
        <p:cNvGrpSpPr/>
        <p:nvPr/>
      </p:nvGrpSpPr>
      <p:grpSpPr>
        <a:xfrm>
          <a:off x="0" y="0"/>
          <a:ext cx="0" cy="0"/>
          <a:chOff x="0" y="0"/>
          <a:chExt cx="0" cy="0"/>
        </a:xfrm>
      </p:grpSpPr>
      <p:sp>
        <p:nvSpPr>
          <p:cNvPr name="Freeform 2" id="2"/>
          <p:cNvSpPr/>
          <p:nvPr/>
        </p:nvSpPr>
        <p:spPr>
          <a:xfrm flipH="false" flipV="false" rot="0">
            <a:off x="10914984" y="-683624"/>
            <a:ext cx="6807701" cy="11450262"/>
          </a:xfrm>
          <a:custGeom>
            <a:avLst/>
            <a:gdLst/>
            <a:ahLst/>
            <a:cxnLst/>
            <a:rect r="r" b="b" t="t" l="l"/>
            <a:pathLst>
              <a:path h="11450262" w="6807701">
                <a:moveTo>
                  <a:pt x="0" y="0"/>
                </a:moveTo>
                <a:lnTo>
                  <a:pt x="6807701" y="0"/>
                </a:lnTo>
                <a:lnTo>
                  <a:pt x="6807701" y="11450262"/>
                </a:lnTo>
                <a:lnTo>
                  <a:pt x="0" y="114502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9794480" y="-266543"/>
            <a:ext cx="5814325" cy="4119679"/>
          </a:xfrm>
          <a:prstGeom prst="line">
            <a:avLst/>
          </a:prstGeom>
          <a:ln cap="flat" w="38100">
            <a:solidFill>
              <a:srgbClr val="C1142D"/>
            </a:solidFill>
            <a:prstDash val="sysDot"/>
            <a:headEnd type="none" len="sm" w="sm"/>
            <a:tailEnd type="none" len="sm" w="sm"/>
          </a:ln>
        </p:spPr>
      </p:sp>
      <p:grpSp>
        <p:nvGrpSpPr>
          <p:cNvPr name="Group 4" id="4"/>
          <p:cNvGrpSpPr/>
          <p:nvPr/>
        </p:nvGrpSpPr>
        <p:grpSpPr>
          <a:xfrm rot="0">
            <a:off x="1028700" y="-577812"/>
            <a:ext cx="16230600" cy="1606512"/>
            <a:chOff x="0" y="0"/>
            <a:chExt cx="4274726" cy="423114"/>
          </a:xfrm>
        </p:grpSpPr>
        <p:sp>
          <p:nvSpPr>
            <p:cNvPr name="Freeform 5" id="5"/>
            <p:cNvSpPr/>
            <p:nvPr/>
          </p:nvSpPr>
          <p:spPr>
            <a:xfrm flipH="false" flipV="false" rot="0">
              <a:off x="0" y="0"/>
              <a:ext cx="4274726" cy="423114"/>
            </a:xfrm>
            <a:custGeom>
              <a:avLst/>
              <a:gdLst/>
              <a:ahLst/>
              <a:cxnLst/>
              <a:rect r="r" b="b" t="t" l="l"/>
              <a:pathLst>
                <a:path h="423114" w="4274726">
                  <a:moveTo>
                    <a:pt x="10017" y="0"/>
                  </a:moveTo>
                  <a:lnTo>
                    <a:pt x="4264709" y="0"/>
                  </a:lnTo>
                  <a:cubicBezTo>
                    <a:pt x="4267365" y="0"/>
                    <a:pt x="4269913" y="1055"/>
                    <a:pt x="4271792" y="2934"/>
                  </a:cubicBezTo>
                  <a:cubicBezTo>
                    <a:pt x="4273671" y="4812"/>
                    <a:pt x="4274726" y="7360"/>
                    <a:pt x="4274726" y="10017"/>
                  </a:cubicBezTo>
                  <a:lnTo>
                    <a:pt x="4274726" y="413097"/>
                  </a:lnTo>
                  <a:cubicBezTo>
                    <a:pt x="4274726" y="415754"/>
                    <a:pt x="4273671" y="418302"/>
                    <a:pt x="4271792" y="420180"/>
                  </a:cubicBezTo>
                  <a:cubicBezTo>
                    <a:pt x="4269913" y="422059"/>
                    <a:pt x="4267365" y="423114"/>
                    <a:pt x="4264709" y="423114"/>
                  </a:cubicBezTo>
                  <a:lnTo>
                    <a:pt x="10017" y="423114"/>
                  </a:lnTo>
                  <a:cubicBezTo>
                    <a:pt x="7360" y="423114"/>
                    <a:pt x="4812" y="422059"/>
                    <a:pt x="2934" y="420180"/>
                  </a:cubicBezTo>
                  <a:cubicBezTo>
                    <a:pt x="1055" y="418302"/>
                    <a:pt x="0" y="415754"/>
                    <a:pt x="0" y="413097"/>
                  </a:cubicBezTo>
                  <a:lnTo>
                    <a:pt x="0" y="10017"/>
                  </a:lnTo>
                  <a:cubicBezTo>
                    <a:pt x="0" y="7360"/>
                    <a:pt x="1055" y="4812"/>
                    <a:pt x="2934" y="2934"/>
                  </a:cubicBezTo>
                  <a:cubicBezTo>
                    <a:pt x="4812" y="1055"/>
                    <a:pt x="7360" y="0"/>
                    <a:pt x="10017" y="0"/>
                  </a:cubicBezTo>
                  <a:close/>
                </a:path>
              </a:pathLst>
            </a:custGeom>
            <a:gradFill rotWithShape="true">
              <a:gsLst>
                <a:gs pos="0">
                  <a:srgbClr val="FFB73D">
                    <a:alpha val="41000"/>
                  </a:srgbClr>
                </a:gs>
                <a:gs pos="33333">
                  <a:srgbClr val="F6985C">
                    <a:alpha val="77500"/>
                  </a:srgbClr>
                </a:gs>
                <a:gs pos="66667">
                  <a:srgbClr val="C60000">
                    <a:alpha val="54500"/>
                  </a:srgbClr>
                </a:gs>
                <a:gs pos="100000">
                  <a:srgbClr val="C60000">
                    <a:alpha val="92000"/>
                  </a:srgbClr>
                </a:gs>
              </a:gsLst>
              <a:lin ang="5400000"/>
            </a:gradFill>
          </p:spPr>
        </p:sp>
        <p:sp>
          <p:nvSpPr>
            <p:cNvPr name="TextBox 6" id="6"/>
            <p:cNvSpPr txBox="true"/>
            <p:nvPr/>
          </p:nvSpPr>
          <p:spPr>
            <a:xfrm>
              <a:off x="0" y="66675"/>
              <a:ext cx="4274726" cy="356439"/>
            </a:xfrm>
            <a:prstGeom prst="rect">
              <a:avLst/>
            </a:prstGeom>
          </p:spPr>
          <p:txBody>
            <a:bodyPr anchor="ctr" rtlCol="false" tIns="50800" lIns="50800" bIns="50800" rIns="50800"/>
            <a:lstStyle/>
            <a:p>
              <a:pPr algn="ctr">
                <a:lnSpc>
                  <a:spcPts val="1468"/>
                </a:lnSpc>
              </a:pPr>
            </a:p>
          </p:txBody>
        </p:sp>
      </p:grpSp>
      <p:sp>
        <p:nvSpPr>
          <p:cNvPr name="Freeform 7" id="7"/>
          <p:cNvSpPr/>
          <p:nvPr/>
        </p:nvSpPr>
        <p:spPr>
          <a:xfrm flipH="true" flipV="false" rot="2075408">
            <a:off x="14316602" y="2129504"/>
            <a:ext cx="4196984" cy="3113990"/>
          </a:xfrm>
          <a:custGeom>
            <a:avLst/>
            <a:gdLst/>
            <a:ahLst/>
            <a:cxnLst/>
            <a:rect r="r" b="b" t="t" l="l"/>
            <a:pathLst>
              <a:path h="3113990" w="4196984">
                <a:moveTo>
                  <a:pt x="4196984" y="0"/>
                </a:moveTo>
                <a:lnTo>
                  <a:pt x="0" y="0"/>
                </a:lnTo>
                <a:lnTo>
                  <a:pt x="0" y="3113990"/>
                </a:lnTo>
                <a:lnTo>
                  <a:pt x="4196984" y="3113990"/>
                </a:lnTo>
                <a:lnTo>
                  <a:pt x="4196984" y="0"/>
                </a:lnTo>
                <a:close/>
              </a:path>
            </a:pathLst>
          </a:custGeom>
          <a:blipFill>
            <a:blip r:embed="rId4"/>
            <a:stretch>
              <a:fillRect l="0" t="0" r="0" b="0"/>
            </a:stretch>
          </a:blipFill>
        </p:spPr>
      </p:sp>
      <p:grpSp>
        <p:nvGrpSpPr>
          <p:cNvPr name="Group 8" id="8"/>
          <p:cNvGrpSpPr/>
          <p:nvPr/>
        </p:nvGrpSpPr>
        <p:grpSpPr>
          <a:xfrm rot="0">
            <a:off x="11362296" y="3853136"/>
            <a:ext cx="1827144" cy="3062190"/>
            <a:chOff x="0" y="0"/>
            <a:chExt cx="653127" cy="1094604"/>
          </a:xfrm>
        </p:grpSpPr>
        <p:sp>
          <p:nvSpPr>
            <p:cNvPr name="Freeform 9" id="9"/>
            <p:cNvSpPr/>
            <p:nvPr/>
          </p:nvSpPr>
          <p:spPr>
            <a:xfrm flipH="false" flipV="false" rot="0">
              <a:off x="0" y="0"/>
              <a:ext cx="653127" cy="1094604"/>
            </a:xfrm>
            <a:custGeom>
              <a:avLst/>
              <a:gdLst/>
              <a:ahLst/>
              <a:cxnLst/>
              <a:rect r="r" b="b" t="t" l="l"/>
              <a:pathLst>
                <a:path h="1094604" w="653127">
                  <a:moveTo>
                    <a:pt x="217827" y="19070"/>
                  </a:moveTo>
                  <a:cubicBezTo>
                    <a:pt x="251203" y="7556"/>
                    <a:pt x="289378" y="0"/>
                    <a:pt x="326739" y="0"/>
                  </a:cubicBezTo>
                  <a:cubicBezTo>
                    <a:pt x="364102" y="0"/>
                    <a:pt x="400054" y="6476"/>
                    <a:pt x="433185" y="17990"/>
                  </a:cubicBezTo>
                  <a:cubicBezTo>
                    <a:pt x="433891" y="18350"/>
                    <a:pt x="434596" y="18350"/>
                    <a:pt x="435300" y="18710"/>
                  </a:cubicBezTo>
                  <a:cubicBezTo>
                    <a:pt x="559722" y="64765"/>
                    <a:pt x="651365" y="186379"/>
                    <a:pt x="653127" y="334762"/>
                  </a:cubicBezTo>
                  <a:lnTo>
                    <a:pt x="653127" y="1094604"/>
                  </a:lnTo>
                  <a:lnTo>
                    <a:pt x="0" y="1094604"/>
                  </a:lnTo>
                  <a:lnTo>
                    <a:pt x="0" y="335326"/>
                  </a:lnTo>
                  <a:cubicBezTo>
                    <a:pt x="1762" y="185660"/>
                    <a:pt x="91995" y="64045"/>
                    <a:pt x="217827" y="19070"/>
                  </a:cubicBezTo>
                  <a:close/>
                </a:path>
              </a:pathLst>
            </a:custGeom>
            <a:solidFill>
              <a:srgbClr val="E23533"/>
            </a:solidFill>
          </p:spPr>
        </p:sp>
        <p:sp>
          <p:nvSpPr>
            <p:cNvPr name="TextBox 10" id="10"/>
            <p:cNvSpPr txBox="true"/>
            <p:nvPr/>
          </p:nvSpPr>
          <p:spPr>
            <a:xfrm>
              <a:off x="0" y="193675"/>
              <a:ext cx="653127" cy="900929"/>
            </a:xfrm>
            <a:prstGeom prst="rect">
              <a:avLst/>
            </a:prstGeom>
          </p:spPr>
          <p:txBody>
            <a:bodyPr anchor="ctr" rtlCol="false" tIns="50800" lIns="50800" bIns="50800" rIns="50800"/>
            <a:lstStyle/>
            <a:p>
              <a:pPr algn="ctr">
                <a:lnSpc>
                  <a:spcPts val="1468"/>
                </a:lnSpc>
              </a:pPr>
            </a:p>
          </p:txBody>
        </p:sp>
      </p:grpSp>
      <p:sp>
        <p:nvSpPr>
          <p:cNvPr name="Freeform 11" id="11"/>
          <p:cNvSpPr/>
          <p:nvPr/>
        </p:nvSpPr>
        <p:spPr>
          <a:xfrm flipH="false" flipV="false" rot="0">
            <a:off x="10871294" y="5143500"/>
            <a:ext cx="7416706" cy="5469820"/>
          </a:xfrm>
          <a:custGeom>
            <a:avLst/>
            <a:gdLst/>
            <a:ahLst/>
            <a:cxnLst/>
            <a:rect r="r" b="b" t="t" l="l"/>
            <a:pathLst>
              <a:path h="5469820" w="7416706">
                <a:moveTo>
                  <a:pt x="0" y="0"/>
                </a:moveTo>
                <a:lnTo>
                  <a:pt x="7416706" y="0"/>
                </a:lnTo>
                <a:lnTo>
                  <a:pt x="7416706" y="5469820"/>
                </a:lnTo>
                <a:lnTo>
                  <a:pt x="0" y="5469820"/>
                </a:lnTo>
                <a:lnTo>
                  <a:pt x="0" y="0"/>
                </a:lnTo>
                <a:close/>
              </a:path>
            </a:pathLst>
          </a:custGeom>
          <a:blipFill>
            <a:blip r:embed="rId5"/>
            <a:stretch>
              <a:fillRect l="0" t="0" r="0" b="0"/>
            </a:stretch>
          </a:blipFill>
        </p:spPr>
      </p:sp>
      <p:grpSp>
        <p:nvGrpSpPr>
          <p:cNvPr name="Group 12" id="12"/>
          <p:cNvGrpSpPr/>
          <p:nvPr/>
        </p:nvGrpSpPr>
        <p:grpSpPr>
          <a:xfrm rot="0">
            <a:off x="14972716" y="487837"/>
            <a:ext cx="2053742" cy="354893"/>
            <a:chOff x="0" y="0"/>
            <a:chExt cx="1015246" cy="175438"/>
          </a:xfrm>
        </p:grpSpPr>
        <p:sp>
          <p:nvSpPr>
            <p:cNvPr name="Freeform 13" id="13"/>
            <p:cNvSpPr/>
            <p:nvPr/>
          </p:nvSpPr>
          <p:spPr>
            <a:xfrm flipH="false" flipV="false" rot="0">
              <a:off x="0" y="0"/>
              <a:ext cx="1015246" cy="175438"/>
            </a:xfrm>
            <a:custGeom>
              <a:avLst/>
              <a:gdLst/>
              <a:ahLst/>
              <a:cxnLst/>
              <a:rect r="r" b="b" t="t" l="l"/>
              <a:pathLst>
                <a:path h="175438" w="1015246">
                  <a:moveTo>
                    <a:pt x="41466" y="0"/>
                  </a:moveTo>
                  <a:lnTo>
                    <a:pt x="973780" y="0"/>
                  </a:lnTo>
                  <a:cubicBezTo>
                    <a:pt x="984778" y="0"/>
                    <a:pt x="995325" y="4369"/>
                    <a:pt x="1003101" y="12145"/>
                  </a:cubicBezTo>
                  <a:cubicBezTo>
                    <a:pt x="1010878" y="19922"/>
                    <a:pt x="1015246" y="30469"/>
                    <a:pt x="1015246" y="41466"/>
                  </a:cubicBezTo>
                  <a:lnTo>
                    <a:pt x="1015246" y="133971"/>
                  </a:lnTo>
                  <a:cubicBezTo>
                    <a:pt x="1015246" y="156873"/>
                    <a:pt x="996681" y="175438"/>
                    <a:pt x="973780" y="175438"/>
                  </a:cubicBezTo>
                  <a:lnTo>
                    <a:pt x="41466" y="175438"/>
                  </a:lnTo>
                  <a:cubicBezTo>
                    <a:pt x="30469" y="175438"/>
                    <a:pt x="19922" y="171069"/>
                    <a:pt x="12145" y="163293"/>
                  </a:cubicBezTo>
                  <a:cubicBezTo>
                    <a:pt x="4369" y="155516"/>
                    <a:pt x="0" y="144969"/>
                    <a:pt x="0" y="133971"/>
                  </a:cubicBezTo>
                  <a:lnTo>
                    <a:pt x="0" y="41466"/>
                  </a:lnTo>
                  <a:cubicBezTo>
                    <a:pt x="0" y="30469"/>
                    <a:pt x="4369" y="19922"/>
                    <a:pt x="12145" y="12145"/>
                  </a:cubicBezTo>
                  <a:cubicBezTo>
                    <a:pt x="19922" y="4369"/>
                    <a:pt x="30469" y="0"/>
                    <a:pt x="41466" y="0"/>
                  </a:cubicBezTo>
                  <a:close/>
                </a:path>
              </a:pathLst>
            </a:custGeom>
            <a:solidFill>
              <a:srgbClr val="FFFFFF">
                <a:alpha val="37647"/>
              </a:srgbClr>
            </a:solidFill>
          </p:spPr>
        </p:sp>
        <p:sp>
          <p:nvSpPr>
            <p:cNvPr name="TextBox 14" id="14"/>
            <p:cNvSpPr txBox="true"/>
            <p:nvPr/>
          </p:nvSpPr>
          <p:spPr>
            <a:xfrm>
              <a:off x="0" y="-38100"/>
              <a:ext cx="1015246" cy="213538"/>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6544459" y="487837"/>
            <a:ext cx="481998" cy="354893"/>
            <a:chOff x="0" y="0"/>
            <a:chExt cx="238271" cy="175438"/>
          </a:xfrm>
        </p:grpSpPr>
        <p:sp>
          <p:nvSpPr>
            <p:cNvPr name="Freeform 16" id="16"/>
            <p:cNvSpPr/>
            <p:nvPr/>
          </p:nvSpPr>
          <p:spPr>
            <a:xfrm flipH="false" flipV="false" rot="0">
              <a:off x="0" y="0"/>
              <a:ext cx="238271" cy="175438"/>
            </a:xfrm>
            <a:custGeom>
              <a:avLst/>
              <a:gdLst/>
              <a:ahLst/>
              <a:cxnLst/>
              <a:rect r="r" b="b" t="t" l="l"/>
              <a:pathLst>
                <a:path h="175438" w="238271">
                  <a:moveTo>
                    <a:pt x="87719" y="0"/>
                  </a:moveTo>
                  <a:lnTo>
                    <a:pt x="150552" y="0"/>
                  </a:lnTo>
                  <a:cubicBezTo>
                    <a:pt x="198998" y="0"/>
                    <a:pt x="238271" y="39273"/>
                    <a:pt x="238271" y="87719"/>
                  </a:cubicBezTo>
                  <a:lnTo>
                    <a:pt x="238271" y="87719"/>
                  </a:lnTo>
                  <a:cubicBezTo>
                    <a:pt x="238271" y="136165"/>
                    <a:pt x="198998" y="175438"/>
                    <a:pt x="150552" y="175438"/>
                  </a:cubicBezTo>
                  <a:lnTo>
                    <a:pt x="87719" y="175438"/>
                  </a:lnTo>
                  <a:cubicBezTo>
                    <a:pt x="39273" y="175438"/>
                    <a:pt x="0" y="136165"/>
                    <a:pt x="0" y="87719"/>
                  </a:cubicBezTo>
                  <a:lnTo>
                    <a:pt x="0" y="87719"/>
                  </a:lnTo>
                  <a:cubicBezTo>
                    <a:pt x="0" y="39273"/>
                    <a:pt x="39273" y="0"/>
                    <a:pt x="87719" y="0"/>
                  </a:cubicBezTo>
                  <a:close/>
                </a:path>
              </a:pathLst>
            </a:custGeom>
            <a:solidFill>
              <a:srgbClr val="FFFFFF">
                <a:alpha val="83922"/>
              </a:srgbClr>
            </a:solidFill>
          </p:spPr>
        </p:sp>
        <p:sp>
          <p:nvSpPr>
            <p:cNvPr name="TextBox 17" id="17"/>
            <p:cNvSpPr txBox="true"/>
            <p:nvPr/>
          </p:nvSpPr>
          <p:spPr>
            <a:xfrm>
              <a:off x="0" y="-38100"/>
              <a:ext cx="238271" cy="213538"/>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16675410" y="619366"/>
            <a:ext cx="220097" cy="91835"/>
          </a:xfrm>
          <a:custGeom>
            <a:avLst/>
            <a:gdLst/>
            <a:ahLst/>
            <a:cxnLst/>
            <a:rect r="r" b="b" t="t" l="l"/>
            <a:pathLst>
              <a:path h="91835" w="220097">
                <a:moveTo>
                  <a:pt x="0" y="0"/>
                </a:moveTo>
                <a:lnTo>
                  <a:pt x="220097" y="0"/>
                </a:lnTo>
                <a:lnTo>
                  <a:pt x="220097" y="91834"/>
                </a:lnTo>
                <a:lnTo>
                  <a:pt x="0" y="918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5400000">
            <a:off x="-55978" y="8339135"/>
            <a:ext cx="1467463" cy="370868"/>
          </a:xfrm>
          <a:custGeom>
            <a:avLst/>
            <a:gdLst/>
            <a:ahLst/>
            <a:cxnLst/>
            <a:rect r="r" b="b" t="t" l="l"/>
            <a:pathLst>
              <a:path h="370868" w="1467463">
                <a:moveTo>
                  <a:pt x="0" y="0"/>
                </a:moveTo>
                <a:lnTo>
                  <a:pt x="1467463" y="0"/>
                </a:lnTo>
                <a:lnTo>
                  <a:pt x="1467463" y="370867"/>
                </a:lnTo>
                <a:lnTo>
                  <a:pt x="0" y="3708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0" id="20"/>
          <p:cNvGrpSpPr/>
          <p:nvPr/>
        </p:nvGrpSpPr>
        <p:grpSpPr>
          <a:xfrm rot="0">
            <a:off x="15435496" y="3455799"/>
            <a:ext cx="1883900" cy="188390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142D"/>
            </a:solidFill>
          </p:spPr>
        </p:sp>
        <p:sp>
          <p:nvSpPr>
            <p:cNvPr name="TextBox 22" id="22"/>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Freeform 23" id="23"/>
          <p:cNvSpPr/>
          <p:nvPr/>
        </p:nvSpPr>
        <p:spPr>
          <a:xfrm flipH="false" flipV="false" rot="0">
            <a:off x="15901321" y="3809356"/>
            <a:ext cx="1027546" cy="1141478"/>
          </a:xfrm>
          <a:custGeom>
            <a:avLst/>
            <a:gdLst/>
            <a:ahLst/>
            <a:cxnLst/>
            <a:rect r="r" b="b" t="t" l="l"/>
            <a:pathLst>
              <a:path h="1141478" w="1027546">
                <a:moveTo>
                  <a:pt x="0" y="0"/>
                </a:moveTo>
                <a:lnTo>
                  <a:pt x="1027546" y="0"/>
                </a:lnTo>
                <a:lnTo>
                  <a:pt x="1027546" y="1141478"/>
                </a:lnTo>
                <a:lnTo>
                  <a:pt x="0" y="11414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4" id="24"/>
          <p:cNvSpPr txBox="true"/>
          <p:nvPr/>
        </p:nvSpPr>
        <p:spPr>
          <a:xfrm rot="0">
            <a:off x="14972716" y="591810"/>
            <a:ext cx="1571743" cy="165735"/>
          </a:xfrm>
          <a:prstGeom prst="rect">
            <a:avLst/>
          </a:prstGeom>
        </p:spPr>
        <p:txBody>
          <a:bodyPr anchor="t" rtlCol="false" tIns="0" lIns="0" bIns="0" rIns="0">
            <a:spAutoFit/>
          </a:bodyPr>
          <a:lstStyle/>
          <a:p>
            <a:pPr algn="ctr">
              <a:lnSpc>
                <a:spcPts val="1305"/>
              </a:lnSpc>
            </a:pPr>
            <a:r>
              <a:rPr lang="en-US" sz="1220" spc="244">
                <a:solidFill>
                  <a:srgbClr val="000000"/>
                </a:solidFill>
                <a:latin typeface="Open Sans"/>
                <a:ea typeface="Open Sans"/>
                <a:cs typeface="Open Sans"/>
                <a:sym typeface="Open Sans"/>
              </a:rPr>
              <a:t>NEXT SLIDE</a:t>
            </a:r>
          </a:p>
        </p:txBody>
      </p:sp>
      <p:sp>
        <p:nvSpPr>
          <p:cNvPr name="TextBox 25" id="25"/>
          <p:cNvSpPr txBox="true"/>
          <p:nvPr/>
        </p:nvSpPr>
        <p:spPr>
          <a:xfrm rot="0">
            <a:off x="1516504" y="1171222"/>
            <a:ext cx="6856152" cy="2284577"/>
          </a:xfrm>
          <a:prstGeom prst="rect">
            <a:avLst/>
          </a:prstGeom>
        </p:spPr>
        <p:txBody>
          <a:bodyPr anchor="t" rtlCol="false" tIns="0" lIns="0" bIns="0" rIns="0">
            <a:spAutoFit/>
          </a:bodyPr>
          <a:lstStyle/>
          <a:p>
            <a:pPr algn="l">
              <a:lnSpc>
                <a:spcPts val="8478"/>
              </a:lnSpc>
            </a:pPr>
            <a:r>
              <a:rPr lang="en-US" sz="6056" b="true">
                <a:solidFill>
                  <a:srgbClr val="C1142D"/>
                </a:solidFill>
                <a:latin typeface="Agrandir Bold"/>
                <a:ea typeface="Agrandir Bold"/>
                <a:cs typeface="Agrandir Bold"/>
                <a:sym typeface="Agrandir Bold"/>
              </a:rPr>
              <a:t>QUÁ TRÌNH XỬ LÍ DỮ LIỆU</a:t>
            </a:r>
          </a:p>
        </p:txBody>
      </p:sp>
      <p:sp>
        <p:nvSpPr>
          <p:cNvPr name="TextBox 26" id="26"/>
          <p:cNvSpPr txBox="true"/>
          <p:nvPr/>
        </p:nvSpPr>
        <p:spPr>
          <a:xfrm rot="0">
            <a:off x="1516504" y="3686499"/>
            <a:ext cx="9845792" cy="5467350"/>
          </a:xfrm>
          <a:prstGeom prst="rect">
            <a:avLst/>
          </a:prstGeom>
        </p:spPr>
        <p:txBody>
          <a:bodyPr anchor="t" rtlCol="false" tIns="0" lIns="0" bIns="0" rIns="0">
            <a:spAutoFit/>
          </a:bodyPr>
          <a:lstStyle/>
          <a:p>
            <a:pPr algn="l">
              <a:lnSpc>
                <a:spcPts val="3095"/>
              </a:lnSpc>
            </a:pPr>
            <a:r>
              <a:rPr lang="en-US" sz="2579">
                <a:solidFill>
                  <a:srgbClr val="000000"/>
                </a:solidFill>
                <a:latin typeface="Nourd"/>
                <a:ea typeface="Nourd"/>
                <a:cs typeface="Nourd"/>
                <a:sym typeface="Nourd"/>
              </a:rPr>
              <a:t>1.Thu thập dữ liệu:</a:t>
            </a:r>
          </a:p>
          <a:p>
            <a:pPr algn="l">
              <a:lnSpc>
                <a:spcPts val="3095"/>
              </a:lnSpc>
            </a:pPr>
            <a:r>
              <a:rPr lang="en-US" sz="2579">
                <a:solidFill>
                  <a:srgbClr val="000000"/>
                </a:solidFill>
                <a:latin typeface="Nourd"/>
                <a:ea typeface="Nourd"/>
                <a:cs typeface="Nourd"/>
                <a:sym typeface="Nourd"/>
              </a:rPr>
              <a:t> Sử dụng tập dữ liệu shopping_behavior_updated.csv chứa thông tin giao dịch của khách hàng, bao gồm các thuộc tính như: Customer ID, Age, Gender, Purchase Amount, Category…</a:t>
            </a:r>
          </a:p>
          <a:p>
            <a:pPr algn="l">
              <a:lnSpc>
                <a:spcPts val="3095"/>
              </a:lnSpc>
            </a:pPr>
            <a:r>
              <a:rPr lang="en-US" sz="2579">
                <a:solidFill>
                  <a:srgbClr val="000000"/>
                </a:solidFill>
                <a:latin typeface="Nourd"/>
                <a:ea typeface="Nourd"/>
                <a:cs typeface="Nourd"/>
                <a:sym typeface="Nourd"/>
              </a:rPr>
              <a:t>2. Tiền xử lý dữ liệu:</a:t>
            </a:r>
          </a:p>
          <a:p>
            <a:pPr algn="l" marL="556943" indent="-278471" lvl="1">
              <a:lnSpc>
                <a:spcPts val="3095"/>
              </a:lnSpc>
              <a:buFont typeface="Arial"/>
              <a:buChar char="•"/>
            </a:pPr>
            <a:r>
              <a:rPr lang="en-US" sz="2579">
                <a:solidFill>
                  <a:srgbClr val="000000"/>
                </a:solidFill>
                <a:latin typeface="Nourd"/>
                <a:ea typeface="Nourd"/>
                <a:cs typeface="Nourd"/>
                <a:sym typeface="Nourd"/>
              </a:rPr>
              <a:t>Làm sạch dữ liệu: Kiểm tra và xử lý các giá trị bị thiếu, loại bỏ dữ liệu trùng lặp nhằm đảm bảo độ chính xác của dữ liệu đầu vào.</a:t>
            </a:r>
          </a:p>
          <a:p>
            <a:pPr algn="l" marL="556943" indent="-278471" lvl="1">
              <a:lnSpc>
                <a:spcPts val="3095"/>
              </a:lnSpc>
              <a:buFont typeface="Arial"/>
              <a:buChar char="•"/>
            </a:pPr>
            <a:r>
              <a:rPr lang="en-US" sz="2579">
                <a:solidFill>
                  <a:srgbClr val="000000"/>
                </a:solidFill>
                <a:latin typeface="Nourd"/>
                <a:ea typeface="Nourd"/>
                <a:cs typeface="Nourd"/>
                <a:sym typeface="Nourd"/>
              </a:rPr>
              <a:t>Chuẩn hóa dữ liệu: Định dạng lại tên các cột theo chuẩn thống nhất để thuận tiện cho việc lập trình và phân tích.</a:t>
            </a:r>
          </a:p>
          <a:p>
            <a:pPr algn="l" marL="556943" indent="-278471" lvl="1">
              <a:lnSpc>
                <a:spcPts val="3095"/>
              </a:lnSpc>
              <a:buFont typeface="Arial"/>
              <a:buChar char="•"/>
            </a:pPr>
            <a:r>
              <a:rPr lang="en-US" sz="2579">
                <a:solidFill>
                  <a:srgbClr val="000000"/>
                </a:solidFill>
                <a:latin typeface="Nourd"/>
                <a:ea typeface="Nourd"/>
                <a:cs typeface="Nourd"/>
                <a:sym typeface="Nourd"/>
              </a:rPr>
              <a:t>Biến đổi dữ liệu: Thực hiện phân nhóm độ tuổi từ dữ liệu số liên tục sang dữ liệu phân loại để phục vụ cho việc phân tích phân khúc khách hàng.</a:t>
            </a:r>
          </a:p>
          <a:p>
            <a:pPr algn="l">
              <a:lnSpc>
                <a:spcPts val="3095"/>
              </a:lnSpc>
            </a:pPr>
          </a:p>
        </p:txBody>
      </p:sp>
      <p:sp>
        <p:nvSpPr>
          <p:cNvPr name="Freeform 27" id="27"/>
          <p:cNvSpPr/>
          <p:nvPr/>
        </p:nvSpPr>
        <p:spPr>
          <a:xfrm flipH="false" flipV="false" rot="0">
            <a:off x="10515461" y="1456972"/>
            <a:ext cx="1693669" cy="2432162"/>
          </a:xfrm>
          <a:custGeom>
            <a:avLst/>
            <a:gdLst/>
            <a:ahLst/>
            <a:cxnLst/>
            <a:rect r="r" b="b" t="t" l="l"/>
            <a:pathLst>
              <a:path h="2432162" w="1693669">
                <a:moveTo>
                  <a:pt x="0" y="0"/>
                </a:moveTo>
                <a:lnTo>
                  <a:pt x="1693669" y="0"/>
                </a:lnTo>
                <a:lnTo>
                  <a:pt x="1693669" y="2432161"/>
                </a:lnTo>
                <a:lnTo>
                  <a:pt x="0" y="24321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8" id="28"/>
          <p:cNvSpPr/>
          <p:nvPr/>
        </p:nvSpPr>
        <p:spPr>
          <a:xfrm flipH="false" flipV="false" rot="0">
            <a:off x="1516504" y="9195780"/>
            <a:ext cx="1427380" cy="173881"/>
          </a:xfrm>
          <a:custGeom>
            <a:avLst/>
            <a:gdLst/>
            <a:ahLst/>
            <a:cxnLst/>
            <a:rect r="r" b="b" t="t" l="l"/>
            <a:pathLst>
              <a:path h="173881" w="1427380">
                <a:moveTo>
                  <a:pt x="0" y="0"/>
                </a:moveTo>
                <a:lnTo>
                  <a:pt x="1427381" y="0"/>
                </a:lnTo>
                <a:lnTo>
                  <a:pt x="1427381" y="173881"/>
                </a:lnTo>
                <a:lnTo>
                  <a:pt x="0" y="17388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AutoShape 29" id="29"/>
          <p:cNvSpPr/>
          <p:nvPr/>
        </p:nvSpPr>
        <p:spPr>
          <a:xfrm>
            <a:off x="1516504" y="3436749"/>
            <a:ext cx="6492240" cy="0"/>
          </a:xfrm>
          <a:prstGeom prst="line">
            <a:avLst/>
          </a:prstGeom>
          <a:ln cap="flat" w="38100">
            <a:solidFill>
              <a:srgbClr val="C1142D"/>
            </a:solidFill>
            <a:prstDash val="solid"/>
            <a:headEnd type="none" len="sm" w="sm"/>
            <a:tailEnd type="none" len="sm" w="sm"/>
          </a:ln>
        </p:spPr>
      </p:sp>
    </p:spTree>
  </p:cSld>
  <p:clrMapOvr>
    <a:masterClrMapping/>
  </p:clrMapOvr>
  <p:transition spd="slow">
    <p:push dir="d"/>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34F2B">
                <a:alpha val="45000"/>
              </a:srgbClr>
            </a:gs>
            <a:gs pos="50000">
              <a:srgbClr val="FFB258">
                <a:alpha val="21500"/>
              </a:srgbClr>
            </a:gs>
            <a:gs pos="100000">
              <a:srgbClr val="FFEB98">
                <a:alpha val="215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true" flipV="false" rot="0">
            <a:off x="11549071" y="-2778190"/>
            <a:ext cx="6847289" cy="8118011"/>
          </a:xfrm>
          <a:custGeom>
            <a:avLst/>
            <a:gdLst/>
            <a:ahLst/>
            <a:cxnLst/>
            <a:rect r="r" b="b" t="t" l="l"/>
            <a:pathLst>
              <a:path h="8118011" w="6847289">
                <a:moveTo>
                  <a:pt x="6847289" y="0"/>
                </a:moveTo>
                <a:lnTo>
                  <a:pt x="0" y="0"/>
                </a:lnTo>
                <a:lnTo>
                  <a:pt x="0" y="8118011"/>
                </a:lnTo>
                <a:lnTo>
                  <a:pt x="6847289" y="8118011"/>
                </a:lnTo>
                <a:lnTo>
                  <a:pt x="6847289" y="0"/>
                </a:lnTo>
                <a:close/>
              </a:path>
            </a:pathLst>
          </a:custGeom>
          <a:blipFill>
            <a:blip r:embed="rId2"/>
            <a:stretch>
              <a:fillRect l="-14612" t="-62632" r="-15007" b="-8979"/>
            </a:stretch>
          </a:blipFill>
        </p:spPr>
      </p:sp>
      <p:sp>
        <p:nvSpPr>
          <p:cNvPr name="Freeform 3" id="3"/>
          <p:cNvSpPr/>
          <p:nvPr/>
        </p:nvSpPr>
        <p:spPr>
          <a:xfrm flipH="false" flipV="false" rot="0">
            <a:off x="-273170" y="-2778190"/>
            <a:ext cx="6847289" cy="8118011"/>
          </a:xfrm>
          <a:custGeom>
            <a:avLst/>
            <a:gdLst/>
            <a:ahLst/>
            <a:cxnLst/>
            <a:rect r="r" b="b" t="t" l="l"/>
            <a:pathLst>
              <a:path h="8118011" w="6847289">
                <a:moveTo>
                  <a:pt x="0" y="0"/>
                </a:moveTo>
                <a:lnTo>
                  <a:pt x="6847288" y="0"/>
                </a:lnTo>
                <a:lnTo>
                  <a:pt x="6847288" y="8118011"/>
                </a:lnTo>
                <a:lnTo>
                  <a:pt x="0" y="8118011"/>
                </a:lnTo>
                <a:lnTo>
                  <a:pt x="0" y="0"/>
                </a:lnTo>
                <a:close/>
              </a:path>
            </a:pathLst>
          </a:custGeom>
          <a:blipFill>
            <a:blip r:embed="rId2"/>
            <a:stretch>
              <a:fillRect l="-14612" t="-62632" r="-15007" b="-8979"/>
            </a:stretch>
          </a:blipFill>
        </p:spPr>
      </p:sp>
      <p:grpSp>
        <p:nvGrpSpPr>
          <p:cNvPr name="Group 4" id="4"/>
          <p:cNvGrpSpPr/>
          <p:nvPr/>
        </p:nvGrpSpPr>
        <p:grpSpPr>
          <a:xfrm rot="0">
            <a:off x="-893183" y="4701926"/>
            <a:ext cx="20280873" cy="4085233"/>
            <a:chOff x="0" y="0"/>
            <a:chExt cx="5341464" cy="1075946"/>
          </a:xfrm>
        </p:grpSpPr>
        <p:sp>
          <p:nvSpPr>
            <p:cNvPr name="Freeform 5" id="5"/>
            <p:cNvSpPr/>
            <p:nvPr/>
          </p:nvSpPr>
          <p:spPr>
            <a:xfrm flipH="false" flipV="false" rot="0">
              <a:off x="0" y="0"/>
              <a:ext cx="5341464" cy="1075946"/>
            </a:xfrm>
            <a:custGeom>
              <a:avLst/>
              <a:gdLst/>
              <a:ahLst/>
              <a:cxnLst/>
              <a:rect r="r" b="b" t="t" l="l"/>
              <a:pathLst>
                <a:path h="1075946" w="5341464">
                  <a:moveTo>
                    <a:pt x="11452" y="0"/>
                  </a:moveTo>
                  <a:lnTo>
                    <a:pt x="5330012" y="0"/>
                  </a:lnTo>
                  <a:cubicBezTo>
                    <a:pt x="5336337" y="0"/>
                    <a:pt x="5341464" y="5127"/>
                    <a:pt x="5341464" y="11452"/>
                  </a:cubicBezTo>
                  <a:lnTo>
                    <a:pt x="5341464" y="1064494"/>
                  </a:lnTo>
                  <a:cubicBezTo>
                    <a:pt x="5341464" y="1070819"/>
                    <a:pt x="5336337" y="1075946"/>
                    <a:pt x="5330012" y="1075946"/>
                  </a:cubicBezTo>
                  <a:lnTo>
                    <a:pt x="11452" y="1075946"/>
                  </a:lnTo>
                  <a:cubicBezTo>
                    <a:pt x="5127" y="1075946"/>
                    <a:pt x="0" y="1070819"/>
                    <a:pt x="0" y="1064494"/>
                  </a:cubicBezTo>
                  <a:lnTo>
                    <a:pt x="0" y="11452"/>
                  </a:lnTo>
                  <a:cubicBezTo>
                    <a:pt x="0" y="5127"/>
                    <a:pt x="5127" y="0"/>
                    <a:pt x="11452" y="0"/>
                  </a:cubicBezTo>
                  <a:close/>
                </a:path>
              </a:pathLst>
            </a:custGeom>
            <a:solidFill>
              <a:srgbClr val="FFFFFF"/>
            </a:solidFill>
            <a:ln w="38100" cap="rnd">
              <a:solidFill>
                <a:srgbClr val="FFE491"/>
              </a:solidFill>
              <a:prstDash val="solid"/>
              <a:round/>
            </a:ln>
          </p:spPr>
        </p:sp>
        <p:sp>
          <p:nvSpPr>
            <p:cNvPr name="TextBox 6" id="6"/>
            <p:cNvSpPr txBox="true"/>
            <p:nvPr/>
          </p:nvSpPr>
          <p:spPr>
            <a:xfrm>
              <a:off x="0" y="9525"/>
              <a:ext cx="5341464" cy="1066421"/>
            </a:xfrm>
            <a:prstGeom prst="rect">
              <a:avLst/>
            </a:prstGeom>
          </p:spPr>
          <p:txBody>
            <a:bodyPr anchor="ctr" rtlCol="false" tIns="50800" lIns="50800" bIns="50800" rIns="50800"/>
            <a:lstStyle/>
            <a:p>
              <a:pPr algn="ctr">
                <a:lnSpc>
                  <a:spcPts val="2879"/>
                </a:lnSpc>
              </a:pPr>
            </a:p>
          </p:txBody>
        </p:sp>
      </p:grpSp>
      <p:grpSp>
        <p:nvGrpSpPr>
          <p:cNvPr name="Group 7" id="7"/>
          <p:cNvGrpSpPr/>
          <p:nvPr/>
        </p:nvGrpSpPr>
        <p:grpSpPr>
          <a:xfrm rot="0">
            <a:off x="-505383" y="5001695"/>
            <a:ext cx="19068246" cy="3485694"/>
            <a:chOff x="0" y="0"/>
            <a:chExt cx="5022090" cy="918043"/>
          </a:xfrm>
        </p:grpSpPr>
        <p:sp>
          <p:nvSpPr>
            <p:cNvPr name="Freeform 8" id="8"/>
            <p:cNvSpPr/>
            <p:nvPr/>
          </p:nvSpPr>
          <p:spPr>
            <a:xfrm flipH="false" flipV="false" rot="0">
              <a:off x="0" y="0"/>
              <a:ext cx="5022090" cy="918043"/>
            </a:xfrm>
            <a:custGeom>
              <a:avLst/>
              <a:gdLst/>
              <a:ahLst/>
              <a:cxnLst/>
              <a:rect r="r" b="b" t="t" l="l"/>
              <a:pathLst>
                <a:path h="918043" w="5022090">
                  <a:moveTo>
                    <a:pt x="8120" y="0"/>
                  </a:moveTo>
                  <a:lnTo>
                    <a:pt x="5013970" y="0"/>
                  </a:lnTo>
                  <a:cubicBezTo>
                    <a:pt x="5018454" y="0"/>
                    <a:pt x="5022090" y="3636"/>
                    <a:pt x="5022090" y="8120"/>
                  </a:cubicBezTo>
                  <a:lnTo>
                    <a:pt x="5022090" y="909923"/>
                  </a:lnTo>
                  <a:cubicBezTo>
                    <a:pt x="5022090" y="912076"/>
                    <a:pt x="5021234" y="914142"/>
                    <a:pt x="5019711" y="915665"/>
                  </a:cubicBezTo>
                  <a:cubicBezTo>
                    <a:pt x="5018188" y="917187"/>
                    <a:pt x="5016123" y="918043"/>
                    <a:pt x="5013970" y="918043"/>
                  </a:cubicBezTo>
                  <a:lnTo>
                    <a:pt x="8120" y="918043"/>
                  </a:lnTo>
                  <a:cubicBezTo>
                    <a:pt x="3636" y="918043"/>
                    <a:pt x="0" y="914407"/>
                    <a:pt x="0" y="909923"/>
                  </a:cubicBezTo>
                  <a:lnTo>
                    <a:pt x="0" y="8120"/>
                  </a:lnTo>
                  <a:cubicBezTo>
                    <a:pt x="0" y="3636"/>
                    <a:pt x="3636" y="0"/>
                    <a:pt x="8120" y="0"/>
                  </a:cubicBezTo>
                  <a:close/>
                </a:path>
              </a:pathLst>
            </a:custGeom>
            <a:solidFill>
              <a:srgbClr val="000000">
                <a:alpha val="0"/>
              </a:srgbClr>
            </a:solidFill>
            <a:ln w="38100" cap="sq">
              <a:solidFill>
                <a:srgbClr val="F48462"/>
              </a:solidFill>
              <a:prstDash val="lgDash"/>
              <a:miter/>
            </a:ln>
          </p:spPr>
        </p:sp>
        <p:sp>
          <p:nvSpPr>
            <p:cNvPr name="TextBox 9" id="9"/>
            <p:cNvSpPr txBox="true"/>
            <p:nvPr/>
          </p:nvSpPr>
          <p:spPr>
            <a:xfrm>
              <a:off x="0" y="9525"/>
              <a:ext cx="5022090" cy="908518"/>
            </a:xfrm>
            <a:prstGeom prst="rect">
              <a:avLst/>
            </a:prstGeom>
          </p:spPr>
          <p:txBody>
            <a:bodyPr anchor="ctr" rtlCol="false" tIns="50800" lIns="50800" bIns="50800" rIns="50800"/>
            <a:lstStyle/>
            <a:p>
              <a:pPr algn="ctr">
                <a:lnSpc>
                  <a:spcPts val="2879"/>
                </a:lnSpc>
              </a:pPr>
            </a:p>
          </p:txBody>
        </p:sp>
      </p:grpSp>
      <p:grpSp>
        <p:nvGrpSpPr>
          <p:cNvPr name="Group 10" id="10"/>
          <p:cNvGrpSpPr/>
          <p:nvPr/>
        </p:nvGrpSpPr>
        <p:grpSpPr>
          <a:xfrm rot="0">
            <a:off x="1028700" y="-577812"/>
            <a:ext cx="16230600" cy="1606512"/>
            <a:chOff x="0" y="0"/>
            <a:chExt cx="4274726" cy="423114"/>
          </a:xfrm>
        </p:grpSpPr>
        <p:sp>
          <p:nvSpPr>
            <p:cNvPr name="Freeform 11" id="11"/>
            <p:cNvSpPr/>
            <p:nvPr/>
          </p:nvSpPr>
          <p:spPr>
            <a:xfrm flipH="false" flipV="false" rot="0">
              <a:off x="0" y="0"/>
              <a:ext cx="4274726" cy="423114"/>
            </a:xfrm>
            <a:custGeom>
              <a:avLst/>
              <a:gdLst/>
              <a:ahLst/>
              <a:cxnLst/>
              <a:rect r="r" b="b" t="t" l="l"/>
              <a:pathLst>
                <a:path h="423114" w="4274726">
                  <a:moveTo>
                    <a:pt x="10017" y="0"/>
                  </a:moveTo>
                  <a:lnTo>
                    <a:pt x="4264709" y="0"/>
                  </a:lnTo>
                  <a:cubicBezTo>
                    <a:pt x="4267365" y="0"/>
                    <a:pt x="4269913" y="1055"/>
                    <a:pt x="4271792" y="2934"/>
                  </a:cubicBezTo>
                  <a:cubicBezTo>
                    <a:pt x="4273671" y="4812"/>
                    <a:pt x="4274726" y="7360"/>
                    <a:pt x="4274726" y="10017"/>
                  </a:cubicBezTo>
                  <a:lnTo>
                    <a:pt x="4274726" y="413097"/>
                  </a:lnTo>
                  <a:cubicBezTo>
                    <a:pt x="4274726" y="415754"/>
                    <a:pt x="4273671" y="418302"/>
                    <a:pt x="4271792" y="420180"/>
                  </a:cubicBezTo>
                  <a:cubicBezTo>
                    <a:pt x="4269913" y="422059"/>
                    <a:pt x="4267365" y="423114"/>
                    <a:pt x="4264709" y="423114"/>
                  </a:cubicBezTo>
                  <a:lnTo>
                    <a:pt x="10017" y="423114"/>
                  </a:lnTo>
                  <a:cubicBezTo>
                    <a:pt x="7360" y="423114"/>
                    <a:pt x="4812" y="422059"/>
                    <a:pt x="2934" y="420180"/>
                  </a:cubicBezTo>
                  <a:cubicBezTo>
                    <a:pt x="1055" y="418302"/>
                    <a:pt x="0" y="415754"/>
                    <a:pt x="0" y="413097"/>
                  </a:cubicBezTo>
                  <a:lnTo>
                    <a:pt x="0" y="10017"/>
                  </a:lnTo>
                  <a:cubicBezTo>
                    <a:pt x="0" y="7360"/>
                    <a:pt x="1055" y="4812"/>
                    <a:pt x="2934" y="2934"/>
                  </a:cubicBezTo>
                  <a:cubicBezTo>
                    <a:pt x="4812" y="1055"/>
                    <a:pt x="7360" y="0"/>
                    <a:pt x="10017" y="0"/>
                  </a:cubicBezTo>
                  <a:close/>
                </a:path>
              </a:pathLst>
            </a:custGeom>
            <a:gradFill rotWithShape="true">
              <a:gsLst>
                <a:gs pos="0">
                  <a:srgbClr val="FFB73D">
                    <a:alpha val="41000"/>
                  </a:srgbClr>
                </a:gs>
                <a:gs pos="33333">
                  <a:srgbClr val="F6985C">
                    <a:alpha val="77500"/>
                  </a:srgbClr>
                </a:gs>
                <a:gs pos="66667">
                  <a:srgbClr val="C60000">
                    <a:alpha val="54500"/>
                  </a:srgbClr>
                </a:gs>
                <a:gs pos="100000">
                  <a:srgbClr val="C60000">
                    <a:alpha val="92000"/>
                  </a:srgbClr>
                </a:gs>
              </a:gsLst>
              <a:lin ang="5400000"/>
            </a:gradFill>
          </p:spPr>
        </p:sp>
        <p:sp>
          <p:nvSpPr>
            <p:cNvPr name="TextBox 12" id="12"/>
            <p:cNvSpPr txBox="true"/>
            <p:nvPr/>
          </p:nvSpPr>
          <p:spPr>
            <a:xfrm>
              <a:off x="0" y="66675"/>
              <a:ext cx="4274726" cy="356439"/>
            </a:xfrm>
            <a:prstGeom prst="rect">
              <a:avLst/>
            </a:prstGeom>
          </p:spPr>
          <p:txBody>
            <a:bodyPr anchor="ctr" rtlCol="false" tIns="50800" lIns="50800" bIns="50800" rIns="50800"/>
            <a:lstStyle/>
            <a:p>
              <a:pPr algn="ctr">
                <a:lnSpc>
                  <a:spcPts val="1468"/>
                </a:lnSpc>
              </a:pPr>
            </a:p>
          </p:txBody>
        </p:sp>
      </p:grpSp>
      <p:grpSp>
        <p:nvGrpSpPr>
          <p:cNvPr name="Group 13" id="13"/>
          <p:cNvGrpSpPr/>
          <p:nvPr/>
        </p:nvGrpSpPr>
        <p:grpSpPr>
          <a:xfrm rot="0">
            <a:off x="14972716" y="487837"/>
            <a:ext cx="2053742" cy="354893"/>
            <a:chOff x="0" y="0"/>
            <a:chExt cx="1015246" cy="175438"/>
          </a:xfrm>
        </p:grpSpPr>
        <p:sp>
          <p:nvSpPr>
            <p:cNvPr name="Freeform 14" id="14"/>
            <p:cNvSpPr/>
            <p:nvPr/>
          </p:nvSpPr>
          <p:spPr>
            <a:xfrm flipH="false" flipV="false" rot="0">
              <a:off x="0" y="0"/>
              <a:ext cx="1015246" cy="175438"/>
            </a:xfrm>
            <a:custGeom>
              <a:avLst/>
              <a:gdLst/>
              <a:ahLst/>
              <a:cxnLst/>
              <a:rect r="r" b="b" t="t" l="l"/>
              <a:pathLst>
                <a:path h="175438" w="1015246">
                  <a:moveTo>
                    <a:pt x="41466" y="0"/>
                  </a:moveTo>
                  <a:lnTo>
                    <a:pt x="973780" y="0"/>
                  </a:lnTo>
                  <a:cubicBezTo>
                    <a:pt x="984778" y="0"/>
                    <a:pt x="995325" y="4369"/>
                    <a:pt x="1003101" y="12145"/>
                  </a:cubicBezTo>
                  <a:cubicBezTo>
                    <a:pt x="1010878" y="19922"/>
                    <a:pt x="1015246" y="30469"/>
                    <a:pt x="1015246" y="41466"/>
                  </a:cubicBezTo>
                  <a:lnTo>
                    <a:pt x="1015246" y="133971"/>
                  </a:lnTo>
                  <a:cubicBezTo>
                    <a:pt x="1015246" y="156873"/>
                    <a:pt x="996681" y="175438"/>
                    <a:pt x="973780" y="175438"/>
                  </a:cubicBezTo>
                  <a:lnTo>
                    <a:pt x="41466" y="175438"/>
                  </a:lnTo>
                  <a:cubicBezTo>
                    <a:pt x="30469" y="175438"/>
                    <a:pt x="19922" y="171069"/>
                    <a:pt x="12145" y="163293"/>
                  </a:cubicBezTo>
                  <a:cubicBezTo>
                    <a:pt x="4369" y="155516"/>
                    <a:pt x="0" y="144969"/>
                    <a:pt x="0" y="133971"/>
                  </a:cubicBezTo>
                  <a:lnTo>
                    <a:pt x="0" y="41466"/>
                  </a:lnTo>
                  <a:cubicBezTo>
                    <a:pt x="0" y="30469"/>
                    <a:pt x="4369" y="19922"/>
                    <a:pt x="12145" y="12145"/>
                  </a:cubicBezTo>
                  <a:cubicBezTo>
                    <a:pt x="19922" y="4369"/>
                    <a:pt x="30469" y="0"/>
                    <a:pt x="41466" y="0"/>
                  </a:cubicBezTo>
                  <a:close/>
                </a:path>
              </a:pathLst>
            </a:custGeom>
            <a:solidFill>
              <a:srgbClr val="FFFFFF">
                <a:alpha val="37647"/>
              </a:srgbClr>
            </a:solidFill>
          </p:spPr>
        </p:sp>
        <p:sp>
          <p:nvSpPr>
            <p:cNvPr name="TextBox 15" id="15"/>
            <p:cNvSpPr txBox="true"/>
            <p:nvPr/>
          </p:nvSpPr>
          <p:spPr>
            <a:xfrm>
              <a:off x="0" y="-38100"/>
              <a:ext cx="1015246" cy="213538"/>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6544459" y="487837"/>
            <a:ext cx="481998" cy="354893"/>
            <a:chOff x="0" y="0"/>
            <a:chExt cx="238271" cy="175438"/>
          </a:xfrm>
        </p:grpSpPr>
        <p:sp>
          <p:nvSpPr>
            <p:cNvPr name="Freeform 17" id="17"/>
            <p:cNvSpPr/>
            <p:nvPr/>
          </p:nvSpPr>
          <p:spPr>
            <a:xfrm flipH="false" flipV="false" rot="0">
              <a:off x="0" y="0"/>
              <a:ext cx="238271" cy="175438"/>
            </a:xfrm>
            <a:custGeom>
              <a:avLst/>
              <a:gdLst/>
              <a:ahLst/>
              <a:cxnLst/>
              <a:rect r="r" b="b" t="t" l="l"/>
              <a:pathLst>
                <a:path h="175438" w="238271">
                  <a:moveTo>
                    <a:pt x="87719" y="0"/>
                  </a:moveTo>
                  <a:lnTo>
                    <a:pt x="150552" y="0"/>
                  </a:lnTo>
                  <a:cubicBezTo>
                    <a:pt x="198998" y="0"/>
                    <a:pt x="238271" y="39273"/>
                    <a:pt x="238271" y="87719"/>
                  </a:cubicBezTo>
                  <a:lnTo>
                    <a:pt x="238271" y="87719"/>
                  </a:lnTo>
                  <a:cubicBezTo>
                    <a:pt x="238271" y="136165"/>
                    <a:pt x="198998" y="175438"/>
                    <a:pt x="150552" y="175438"/>
                  </a:cubicBezTo>
                  <a:lnTo>
                    <a:pt x="87719" y="175438"/>
                  </a:lnTo>
                  <a:cubicBezTo>
                    <a:pt x="39273" y="175438"/>
                    <a:pt x="0" y="136165"/>
                    <a:pt x="0" y="87719"/>
                  </a:cubicBezTo>
                  <a:lnTo>
                    <a:pt x="0" y="87719"/>
                  </a:lnTo>
                  <a:cubicBezTo>
                    <a:pt x="0" y="39273"/>
                    <a:pt x="39273" y="0"/>
                    <a:pt x="87719" y="0"/>
                  </a:cubicBezTo>
                  <a:close/>
                </a:path>
              </a:pathLst>
            </a:custGeom>
            <a:solidFill>
              <a:srgbClr val="FFFFFF">
                <a:alpha val="83922"/>
              </a:srgbClr>
            </a:solidFill>
          </p:spPr>
        </p:sp>
        <p:sp>
          <p:nvSpPr>
            <p:cNvPr name="TextBox 18" id="18"/>
            <p:cNvSpPr txBox="true"/>
            <p:nvPr/>
          </p:nvSpPr>
          <p:spPr>
            <a:xfrm>
              <a:off x="0" y="-38100"/>
              <a:ext cx="238271" cy="213538"/>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16675410" y="619366"/>
            <a:ext cx="220097" cy="91835"/>
          </a:xfrm>
          <a:custGeom>
            <a:avLst/>
            <a:gdLst/>
            <a:ahLst/>
            <a:cxnLst/>
            <a:rect r="r" b="b" t="t" l="l"/>
            <a:pathLst>
              <a:path h="91835" w="220097">
                <a:moveTo>
                  <a:pt x="0" y="0"/>
                </a:moveTo>
                <a:lnTo>
                  <a:pt x="220097" y="0"/>
                </a:lnTo>
                <a:lnTo>
                  <a:pt x="220097" y="91834"/>
                </a:lnTo>
                <a:lnTo>
                  <a:pt x="0" y="918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0" id="20"/>
          <p:cNvSpPr/>
          <p:nvPr/>
        </p:nvSpPr>
        <p:spPr>
          <a:xfrm flipH="false" flipV="false" rot="0">
            <a:off x="5835566" y="3759444"/>
            <a:ext cx="6616868" cy="5756676"/>
          </a:xfrm>
          <a:custGeom>
            <a:avLst/>
            <a:gdLst/>
            <a:ahLst/>
            <a:cxnLst/>
            <a:rect r="r" b="b" t="t" l="l"/>
            <a:pathLst>
              <a:path h="5756676" w="6616868">
                <a:moveTo>
                  <a:pt x="0" y="0"/>
                </a:moveTo>
                <a:lnTo>
                  <a:pt x="6616868" y="0"/>
                </a:lnTo>
                <a:lnTo>
                  <a:pt x="6616868" y="5756675"/>
                </a:lnTo>
                <a:lnTo>
                  <a:pt x="0" y="5756675"/>
                </a:lnTo>
                <a:lnTo>
                  <a:pt x="0" y="0"/>
                </a:lnTo>
                <a:close/>
              </a:path>
            </a:pathLst>
          </a:custGeom>
          <a:blipFill>
            <a:blip r:embed="rId5"/>
            <a:stretch>
              <a:fillRect l="0" t="0" r="0" b="0"/>
            </a:stretch>
          </a:blipFill>
        </p:spPr>
      </p:sp>
      <p:sp>
        <p:nvSpPr>
          <p:cNvPr name="Freeform 21" id="21"/>
          <p:cNvSpPr/>
          <p:nvPr/>
        </p:nvSpPr>
        <p:spPr>
          <a:xfrm flipH="false" flipV="false" rot="0">
            <a:off x="3599880" y="1276446"/>
            <a:ext cx="10857720" cy="3867054"/>
          </a:xfrm>
          <a:custGeom>
            <a:avLst/>
            <a:gdLst/>
            <a:ahLst/>
            <a:cxnLst/>
            <a:rect r="r" b="b" t="t" l="l"/>
            <a:pathLst>
              <a:path h="3867054" w="10857720">
                <a:moveTo>
                  <a:pt x="0" y="0"/>
                </a:moveTo>
                <a:lnTo>
                  <a:pt x="10857719" y="0"/>
                </a:lnTo>
                <a:lnTo>
                  <a:pt x="10857719" y="3867054"/>
                </a:lnTo>
                <a:lnTo>
                  <a:pt x="0" y="38670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2" id="22"/>
          <p:cNvSpPr txBox="true"/>
          <p:nvPr/>
        </p:nvSpPr>
        <p:spPr>
          <a:xfrm rot="0">
            <a:off x="14972716" y="591810"/>
            <a:ext cx="1571743" cy="165735"/>
          </a:xfrm>
          <a:prstGeom prst="rect">
            <a:avLst/>
          </a:prstGeom>
        </p:spPr>
        <p:txBody>
          <a:bodyPr anchor="t" rtlCol="false" tIns="0" lIns="0" bIns="0" rIns="0">
            <a:spAutoFit/>
          </a:bodyPr>
          <a:lstStyle/>
          <a:p>
            <a:pPr algn="ctr">
              <a:lnSpc>
                <a:spcPts val="1305"/>
              </a:lnSpc>
            </a:pPr>
            <a:r>
              <a:rPr lang="en-US" sz="1220" spc="244">
                <a:solidFill>
                  <a:srgbClr val="000000"/>
                </a:solidFill>
                <a:latin typeface="Open Sans"/>
                <a:ea typeface="Open Sans"/>
                <a:cs typeface="Open Sans"/>
                <a:sym typeface="Open Sans"/>
              </a:rPr>
              <a:t>NEXT SLIDE</a:t>
            </a:r>
          </a:p>
        </p:txBody>
      </p:sp>
      <p:sp>
        <p:nvSpPr>
          <p:cNvPr name="TextBox 23" id="23"/>
          <p:cNvSpPr txBox="true"/>
          <p:nvPr/>
        </p:nvSpPr>
        <p:spPr>
          <a:xfrm rot="0">
            <a:off x="5440321" y="1769347"/>
            <a:ext cx="7176837" cy="1440626"/>
          </a:xfrm>
          <a:prstGeom prst="rect">
            <a:avLst/>
          </a:prstGeom>
        </p:spPr>
        <p:txBody>
          <a:bodyPr anchor="t" rtlCol="false" tIns="0" lIns="0" bIns="0" rIns="0">
            <a:spAutoFit/>
          </a:bodyPr>
          <a:lstStyle/>
          <a:p>
            <a:pPr algn="ctr">
              <a:lnSpc>
                <a:spcPts val="3839"/>
              </a:lnSpc>
            </a:pPr>
            <a:r>
              <a:rPr lang="en-US" sz="3839" b="true">
                <a:solidFill>
                  <a:srgbClr val="000000"/>
                </a:solidFill>
                <a:latin typeface="Agrandir Bold"/>
                <a:ea typeface="Agrandir Bold"/>
                <a:cs typeface="Agrandir Bold"/>
                <a:sym typeface="Agrandir Bold"/>
              </a:rPr>
              <a:t>PHƯƠNG PHÁP VÀ CÔNG CỤ</a:t>
            </a:r>
          </a:p>
        </p:txBody>
      </p:sp>
      <p:sp>
        <p:nvSpPr>
          <p:cNvPr name="TextBox 24" id="24"/>
          <p:cNvSpPr txBox="true"/>
          <p:nvPr/>
        </p:nvSpPr>
        <p:spPr>
          <a:xfrm rot="0">
            <a:off x="899534" y="5201493"/>
            <a:ext cx="4936032" cy="3086100"/>
          </a:xfrm>
          <a:prstGeom prst="rect">
            <a:avLst/>
          </a:prstGeom>
        </p:spPr>
        <p:txBody>
          <a:bodyPr anchor="t" rtlCol="false" tIns="0" lIns="0" bIns="0" rIns="0">
            <a:spAutoFit/>
          </a:bodyPr>
          <a:lstStyle/>
          <a:p>
            <a:pPr algn="l">
              <a:lnSpc>
                <a:spcPts val="2760"/>
              </a:lnSpc>
            </a:pPr>
            <a:r>
              <a:rPr lang="en-US" sz="2300">
                <a:solidFill>
                  <a:srgbClr val="851601"/>
                </a:solidFill>
                <a:latin typeface="Nourd"/>
                <a:ea typeface="Nourd"/>
                <a:cs typeface="Nourd"/>
                <a:sym typeface="Nourd"/>
              </a:rPr>
              <a:t>Phương</a:t>
            </a:r>
            <a:r>
              <a:rPr lang="en-US" sz="2300">
                <a:solidFill>
                  <a:srgbClr val="851601"/>
                </a:solidFill>
                <a:latin typeface="Nourd"/>
                <a:ea typeface="Nourd"/>
                <a:cs typeface="Nourd"/>
                <a:sym typeface="Nourd"/>
              </a:rPr>
              <a:t> pháp phân tích</a:t>
            </a:r>
          </a:p>
          <a:p>
            <a:pPr algn="l" marL="496571" indent="-248285" lvl="1">
              <a:lnSpc>
                <a:spcPts val="2760"/>
              </a:lnSpc>
              <a:buFont typeface="Arial"/>
              <a:buChar char="•"/>
            </a:pPr>
            <a:r>
              <a:rPr lang="en-US" sz="2300">
                <a:solidFill>
                  <a:srgbClr val="851601"/>
                </a:solidFill>
                <a:latin typeface="Nourd"/>
                <a:ea typeface="Nourd"/>
                <a:cs typeface="Nourd"/>
                <a:sym typeface="Nourd"/>
              </a:rPr>
              <a:t>Thống kê mô tả: Phân tích doanh thu, độ tuổi, giới tính, phương thức thanh toán.</a:t>
            </a:r>
          </a:p>
          <a:p>
            <a:pPr algn="l" marL="496571" indent="-248285" lvl="1">
              <a:lnSpc>
                <a:spcPts val="2760"/>
              </a:lnSpc>
              <a:buFont typeface="Arial"/>
              <a:buChar char="•"/>
            </a:pPr>
            <a:r>
              <a:rPr lang="en-US" sz="2300">
                <a:solidFill>
                  <a:srgbClr val="851601"/>
                </a:solidFill>
                <a:latin typeface="Nourd"/>
                <a:ea typeface="Nourd"/>
                <a:cs typeface="Nourd"/>
                <a:sym typeface="Nourd"/>
              </a:rPr>
              <a:t>Phân tích tương quan: Dùng heatmap đánh giá mối quan hệ giữa các biến.</a:t>
            </a:r>
          </a:p>
          <a:p>
            <a:pPr algn="l" marL="496571" indent="-248285" lvl="1">
              <a:lnSpc>
                <a:spcPts val="2760"/>
              </a:lnSpc>
              <a:buFont typeface="Arial"/>
              <a:buChar char="•"/>
            </a:pPr>
            <a:r>
              <a:rPr lang="en-US" sz="2300">
                <a:solidFill>
                  <a:srgbClr val="851601"/>
                </a:solidFill>
                <a:latin typeface="Nourd"/>
                <a:ea typeface="Nourd"/>
                <a:cs typeface="Nourd"/>
                <a:sym typeface="Nourd"/>
              </a:rPr>
              <a:t>So sánh: So sánh chi tiêu theo mùa và nhóm tuổi.</a:t>
            </a:r>
          </a:p>
        </p:txBody>
      </p:sp>
      <p:sp>
        <p:nvSpPr>
          <p:cNvPr name="TextBox 25" id="25"/>
          <p:cNvSpPr txBox="true"/>
          <p:nvPr/>
        </p:nvSpPr>
        <p:spPr>
          <a:xfrm rot="0">
            <a:off x="12736392" y="5490349"/>
            <a:ext cx="4472647" cy="1989455"/>
          </a:xfrm>
          <a:prstGeom prst="rect">
            <a:avLst/>
          </a:prstGeom>
        </p:spPr>
        <p:txBody>
          <a:bodyPr anchor="t" rtlCol="false" tIns="0" lIns="0" bIns="0" rIns="0">
            <a:spAutoFit/>
          </a:bodyPr>
          <a:lstStyle/>
          <a:p>
            <a:pPr algn="l">
              <a:lnSpc>
                <a:spcPts val="3220"/>
              </a:lnSpc>
            </a:pPr>
            <a:r>
              <a:rPr lang="en-US" sz="2300">
                <a:solidFill>
                  <a:srgbClr val="851601"/>
                </a:solidFill>
                <a:latin typeface="Nourd"/>
                <a:ea typeface="Nourd"/>
                <a:cs typeface="Nourd"/>
                <a:sym typeface="Nourd"/>
              </a:rPr>
              <a:t>Công</a:t>
            </a:r>
            <a:r>
              <a:rPr lang="en-US" sz="2300">
                <a:solidFill>
                  <a:srgbClr val="851601"/>
                </a:solidFill>
                <a:latin typeface="Nourd"/>
                <a:ea typeface="Nourd"/>
                <a:cs typeface="Nourd"/>
                <a:sym typeface="Nourd"/>
              </a:rPr>
              <a:t> cụ &amp; Môi trường</a:t>
            </a:r>
          </a:p>
          <a:p>
            <a:pPr algn="l" marL="496571" indent="-248285" lvl="1">
              <a:lnSpc>
                <a:spcPts val="3220"/>
              </a:lnSpc>
              <a:buFont typeface="Arial"/>
              <a:buChar char="•"/>
            </a:pPr>
            <a:r>
              <a:rPr lang="en-US" sz="2300">
                <a:solidFill>
                  <a:srgbClr val="851601"/>
                </a:solidFill>
                <a:latin typeface="Nourd"/>
                <a:ea typeface="Nourd"/>
                <a:cs typeface="Nourd"/>
                <a:sym typeface="Nourd"/>
              </a:rPr>
              <a:t>Ngôn ngữ: Python 3.x</a:t>
            </a:r>
          </a:p>
          <a:p>
            <a:pPr algn="l" marL="496571" indent="-248285" lvl="1">
              <a:lnSpc>
                <a:spcPts val="3220"/>
              </a:lnSpc>
              <a:buFont typeface="Arial"/>
              <a:buChar char="•"/>
            </a:pPr>
            <a:r>
              <a:rPr lang="en-US" sz="2300">
                <a:solidFill>
                  <a:srgbClr val="851601"/>
                </a:solidFill>
                <a:latin typeface="Nourd"/>
                <a:ea typeface="Nourd"/>
                <a:cs typeface="Nourd"/>
                <a:sym typeface="Nourd"/>
              </a:rPr>
              <a:t>Môi trường: Google Colab</a:t>
            </a:r>
          </a:p>
          <a:p>
            <a:pPr algn="l" marL="496571" indent="-248285" lvl="1">
              <a:lnSpc>
                <a:spcPts val="3220"/>
              </a:lnSpc>
              <a:buFont typeface="Arial"/>
              <a:buChar char="•"/>
            </a:pPr>
            <a:r>
              <a:rPr lang="en-US" sz="2300">
                <a:solidFill>
                  <a:srgbClr val="851601"/>
                </a:solidFill>
                <a:latin typeface="Nourd"/>
                <a:ea typeface="Nourd"/>
                <a:cs typeface="Nourd"/>
                <a:sym typeface="Nourd"/>
              </a:rPr>
              <a:t>Thư viện: Pandas, NumPy, Matplotlib, Seaborn</a:t>
            </a:r>
          </a:p>
        </p:txBody>
      </p:sp>
      <p:sp>
        <p:nvSpPr>
          <p:cNvPr name="Freeform 26" id="26"/>
          <p:cNvSpPr/>
          <p:nvPr/>
        </p:nvSpPr>
        <p:spPr>
          <a:xfrm flipH="false" flipV="false" rot="-5400000">
            <a:off x="-55978" y="8339135"/>
            <a:ext cx="1467463" cy="370868"/>
          </a:xfrm>
          <a:custGeom>
            <a:avLst/>
            <a:gdLst/>
            <a:ahLst/>
            <a:cxnLst/>
            <a:rect r="r" b="b" t="t" l="l"/>
            <a:pathLst>
              <a:path h="370868" w="1467463">
                <a:moveTo>
                  <a:pt x="0" y="0"/>
                </a:moveTo>
                <a:lnTo>
                  <a:pt x="1467463" y="0"/>
                </a:lnTo>
                <a:lnTo>
                  <a:pt x="1467463" y="370867"/>
                </a:lnTo>
                <a:lnTo>
                  <a:pt x="0" y="3708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8266">
                <a:alpha val="51000"/>
              </a:srgbClr>
            </a:gs>
            <a:gs pos="100000">
              <a:srgbClr val="FFDE59">
                <a:alpha val="205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229056" y="953477"/>
            <a:ext cx="17829887" cy="8380047"/>
          </a:xfrm>
          <a:custGeom>
            <a:avLst/>
            <a:gdLst/>
            <a:ahLst/>
            <a:cxnLst/>
            <a:rect r="r" b="b" t="t" l="l"/>
            <a:pathLst>
              <a:path h="8380047" w="17829887">
                <a:moveTo>
                  <a:pt x="0" y="0"/>
                </a:moveTo>
                <a:lnTo>
                  <a:pt x="17829888" y="0"/>
                </a:lnTo>
                <a:lnTo>
                  <a:pt x="17829888" y="8380046"/>
                </a:lnTo>
                <a:lnTo>
                  <a:pt x="0" y="8380046"/>
                </a:lnTo>
                <a:lnTo>
                  <a:pt x="0" y="0"/>
                </a:lnTo>
                <a:close/>
              </a:path>
            </a:pathLst>
          </a:custGeom>
          <a:blipFill>
            <a:blip r:embed="rId2"/>
            <a:stretch>
              <a:fillRect l="0" t="0" r="0" b="0"/>
            </a:stretch>
          </a:blipFill>
          <a:ln w="38100" cap="sq">
            <a:gradFill>
              <a:gsLst>
                <a:gs pos="0">
                  <a:srgbClr val="FF8266">
                    <a:alpha val="34000"/>
                  </a:srgbClr>
                </a:gs>
                <a:gs pos="100000">
                  <a:srgbClr val="FFDE59">
                    <a:alpha val="31000"/>
                  </a:srgbClr>
                </a:gs>
              </a:gsLst>
              <a:lin ang="0"/>
            </a:gradFill>
            <a:prstDash val="solid"/>
            <a:miter/>
          </a:ln>
        </p:spPr>
      </p:sp>
      <p:grpSp>
        <p:nvGrpSpPr>
          <p:cNvPr name="Group 3" id="3"/>
          <p:cNvGrpSpPr/>
          <p:nvPr/>
        </p:nvGrpSpPr>
        <p:grpSpPr>
          <a:xfrm rot="0">
            <a:off x="0" y="-1167747"/>
            <a:ext cx="18288000" cy="1810154"/>
            <a:chOff x="0" y="0"/>
            <a:chExt cx="4274726" cy="423114"/>
          </a:xfrm>
        </p:grpSpPr>
        <p:sp>
          <p:nvSpPr>
            <p:cNvPr name="Freeform 4" id="4"/>
            <p:cNvSpPr/>
            <p:nvPr/>
          </p:nvSpPr>
          <p:spPr>
            <a:xfrm flipH="false" flipV="false" rot="0">
              <a:off x="0" y="0"/>
              <a:ext cx="4274726" cy="423114"/>
            </a:xfrm>
            <a:custGeom>
              <a:avLst/>
              <a:gdLst/>
              <a:ahLst/>
              <a:cxnLst/>
              <a:rect r="r" b="b" t="t" l="l"/>
              <a:pathLst>
                <a:path h="423114" w="4274726">
                  <a:moveTo>
                    <a:pt x="8890" y="0"/>
                  </a:moveTo>
                  <a:lnTo>
                    <a:pt x="4265836" y="0"/>
                  </a:lnTo>
                  <a:cubicBezTo>
                    <a:pt x="4270746" y="0"/>
                    <a:pt x="4274726" y="3980"/>
                    <a:pt x="4274726" y="8890"/>
                  </a:cubicBezTo>
                  <a:lnTo>
                    <a:pt x="4274726" y="414224"/>
                  </a:lnTo>
                  <a:cubicBezTo>
                    <a:pt x="4274726" y="416582"/>
                    <a:pt x="4273789" y="418843"/>
                    <a:pt x="4272122" y="420510"/>
                  </a:cubicBezTo>
                  <a:cubicBezTo>
                    <a:pt x="4270455" y="422178"/>
                    <a:pt x="4268194" y="423114"/>
                    <a:pt x="4265836" y="423114"/>
                  </a:cubicBezTo>
                  <a:lnTo>
                    <a:pt x="8890" y="423114"/>
                  </a:lnTo>
                  <a:cubicBezTo>
                    <a:pt x="6532" y="423114"/>
                    <a:pt x="4271" y="422178"/>
                    <a:pt x="2604" y="420510"/>
                  </a:cubicBezTo>
                  <a:cubicBezTo>
                    <a:pt x="937" y="418843"/>
                    <a:pt x="0" y="416582"/>
                    <a:pt x="0" y="414224"/>
                  </a:cubicBezTo>
                  <a:lnTo>
                    <a:pt x="0" y="8890"/>
                  </a:lnTo>
                  <a:cubicBezTo>
                    <a:pt x="0" y="3980"/>
                    <a:pt x="3980" y="0"/>
                    <a:pt x="8890" y="0"/>
                  </a:cubicBezTo>
                  <a:close/>
                </a:path>
              </a:pathLst>
            </a:custGeom>
            <a:gradFill rotWithShape="true">
              <a:gsLst>
                <a:gs pos="0">
                  <a:srgbClr val="FFB73D">
                    <a:alpha val="41000"/>
                  </a:srgbClr>
                </a:gs>
                <a:gs pos="33333">
                  <a:srgbClr val="F6985C">
                    <a:alpha val="77500"/>
                  </a:srgbClr>
                </a:gs>
                <a:gs pos="66667">
                  <a:srgbClr val="C60000">
                    <a:alpha val="54500"/>
                  </a:srgbClr>
                </a:gs>
                <a:gs pos="100000">
                  <a:srgbClr val="C60000">
                    <a:alpha val="92000"/>
                  </a:srgbClr>
                </a:gs>
              </a:gsLst>
              <a:lin ang="5400000"/>
            </a:gradFill>
          </p:spPr>
        </p:sp>
        <p:sp>
          <p:nvSpPr>
            <p:cNvPr name="TextBox 5" id="5"/>
            <p:cNvSpPr txBox="true"/>
            <p:nvPr/>
          </p:nvSpPr>
          <p:spPr>
            <a:xfrm>
              <a:off x="0" y="66675"/>
              <a:ext cx="4274726" cy="356439"/>
            </a:xfrm>
            <a:prstGeom prst="rect">
              <a:avLst/>
            </a:prstGeom>
          </p:spPr>
          <p:txBody>
            <a:bodyPr anchor="ctr" rtlCol="false" tIns="50800" lIns="50800" bIns="50800" rIns="50800"/>
            <a:lstStyle/>
            <a:p>
              <a:pPr algn="ctr">
                <a:lnSpc>
                  <a:spcPts val="1468"/>
                </a:lnSpc>
              </a:pPr>
            </a:p>
          </p:txBody>
        </p:sp>
      </p:grpSp>
      <p:grpSp>
        <p:nvGrpSpPr>
          <p:cNvPr name="Group 6" id="6"/>
          <p:cNvGrpSpPr/>
          <p:nvPr/>
        </p:nvGrpSpPr>
        <p:grpSpPr>
          <a:xfrm rot="0">
            <a:off x="15744869" y="116276"/>
            <a:ext cx="2314075" cy="399879"/>
            <a:chOff x="0" y="0"/>
            <a:chExt cx="3085433" cy="533172"/>
          </a:xfrm>
        </p:grpSpPr>
        <p:grpSp>
          <p:nvGrpSpPr>
            <p:cNvPr name="Group 7" id="7"/>
            <p:cNvGrpSpPr/>
            <p:nvPr/>
          </p:nvGrpSpPr>
          <p:grpSpPr>
            <a:xfrm rot="0">
              <a:off x="0" y="0"/>
              <a:ext cx="3085433" cy="533172"/>
              <a:chOff x="0" y="0"/>
              <a:chExt cx="1015246" cy="175438"/>
            </a:xfrm>
          </p:grpSpPr>
          <p:sp>
            <p:nvSpPr>
              <p:cNvPr name="Freeform 8" id="8"/>
              <p:cNvSpPr/>
              <p:nvPr/>
            </p:nvSpPr>
            <p:spPr>
              <a:xfrm flipH="false" flipV="false" rot="0">
                <a:off x="0" y="0"/>
                <a:ext cx="1015246" cy="175438"/>
              </a:xfrm>
              <a:custGeom>
                <a:avLst/>
                <a:gdLst/>
                <a:ahLst/>
                <a:cxnLst/>
                <a:rect r="r" b="b" t="t" l="l"/>
                <a:pathLst>
                  <a:path h="175438" w="1015246">
                    <a:moveTo>
                      <a:pt x="36801" y="0"/>
                    </a:moveTo>
                    <a:lnTo>
                      <a:pt x="978445" y="0"/>
                    </a:lnTo>
                    <a:cubicBezTo>
                      <a:pt x="998770" y="0"/>
                      <a:pt x="1015246" y="16477"/>
                      <a:pt x="1015246" y="36801"/>
                    </a:cubicBezTo>
                    <a:lnTo>
                      <a:pt x="1015246" y="138636"/>
                    </a:lnTo>
                    <a:cubicBezTo>
                      <a:pt x="1015246" y="158961"/>
                      <a:pt x="998770" y="175438"/>
                      <a:pt x="978445" y="175438"/>
                    </a:cubicBezTo>
                    <a:lnTo>
                      <a:pt x="36801" y="175438"/>
                    </a:lnTo>
                    <a:cubicBezTo>
                      <a:pt x="16477" y="175438"/>
                      <a:pt x="0" y="158961"/>
                      <a:pt x="0" y="138636"/>
                    </a:cubicBezTo>
                    <a:lnTo>
                      <a:pt x="0" y="36801"/>
                    </a:lnTo>
                    <a:cubicBezTo>
                      <a:pt x="0" y="16477"/>
                      <a:pt x="16477" y="0"/>
                      <a:pt x="36801" y="0"/>
                    </a:cubicBezTo>
                    <a:close/>
                  </a:path>
                </a:pathLst>
              </a:custGeom>
              <a:solidFill>
                <a:srgbClr val="FFFFFF">
                  <a:alpha val="37647"/>
                </a:srgbClr>
              </a:solidFill>
            </p:spPr>
          </p:sp>
          <p:sp>
            <p:nvSpPr>
              <p:cNvPr name="TextBox 9" id="9"/>
              <p:cNvSpPr txBox="true"/>
              <p:nvPr/>
            </p:nvSpPr>
            <p:spPr>
              <a:xfrm>
                <a:off x="0" y="-38100"/>
                <a:ext cx="1015246" cy="21353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361304" y="0"/>
              <a:ext cx="724129" cy="533172"/>
              <a:chOff x="0" y="0"/>
              <a:chExt cx="238271" cy="175438"/>
            </a:xfrm>
          </p:grpSpPr>
          <p:sp>
            <p:nvSpPr>
              <p:cNvPr name="Freeform 11" id="11"/>
              <p:cNvSpPr/>
              <p:nvPr/>
            </p:nvSpPr>
            <p:spPr>
              <a:xfrm flipH="false" flipV="false" rot="0">
                <a:off x="0" y="0"/>
                <a:ext cx="238271" cy="175438"/>
              </a:xfrm>
              <a:custGeom>
                <a:avLst/>
                <a:gdLst/>
                <a:ahLst/>
                <a:cxnLst/>
                <a:rect r="r" b="b" t="t" l="l"/>
                <a:pathLst>
                  <a:path h="175438" w="238271">
                    <a:moveTo>
                      <a:pt x="87719" y="0"/>
                    </a:moveTo>
                    <a:lnTo>
                      <a:pt x="150552" y="0"/>
                    </a:lnTo>
                    <a:cubicBezTo>
                      <a:pt x="198998" y="0"/>
                      <a:pt x="238271" y="39273"/>
                      <a:pt x="238271" y="87719"/>
                    </a:cubicBezTo>
                    <a:lnTo>
                      <a:pt x="238271" y="87719"/>
                    </a:lnTo>
                    <a:cubicBezTo>
                      <a:pt x="238271" y="136165"/>
                      <a:pt x="198998" y="175438"/>
                      <a:pt x="150552" y="175438"/>
                    </a:cubicBezTo>
                    <a:lnTo>
                      <a:pt x="87719" y="175438"/>
                    </a:lnTo>
                    <a:cubicBezTo>
                      <a:pt x="39273" y="175438"/>
                      <a:pt x="0" y="136165"/>
                      <a:pt x="0" y="87719"/>
                    </a:cubicBezTo>
                    <a:lnTo>
                      <a:pt x="0" y="87719"/>
                    </a:lnTo>
                    <a:cubicBezTo>
                      <a:pt x="0" y="39273"/>
                      <a:pt x="39273" y="0"/>
                      <a:pt x="87719" y="0"/>
                    </a:cubicBezTo>
                    <a:close/>
                  </a:path>
                </a:pathLst>
              </a:custGeom>
              <a:solidFill>
                <a:srgbClr val="FFFFFF">
                  <a:alpha val="83922"/>
                </a:srgbClr>
              </a:solidFill>
            </p:spPr>
          </p:sp>
          <p:sp>
            <p:nvSpPr>
              <p:cNvPr name="TextBox 12" id="12"/>
              <p:cNvSpPr txBox="true"/>
              <p:nvPr/>
            </p:nvSpPr>
            <p:spPr>
              <a:xfrm>
                <a:off x="0" y="-38100"/>
                <a:ext cx="238271" cy="213538"/>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2558038" y="197602"/>
              <a:ext cx="330662" cy="137967"/>
            </a:xfrm>
            <a:custGeom>
              <a:avLst/>
              <a:gdLst/>
              <a:ahLst/>
              <a:cxnLst/>
              <a:rect r="r" b="b" t="t" l="l"/>
              <a:pathLst>
                <a:path h="137967" w="330662">
                  <a:moveTo>
                    <a:pt x="0" y="0"/>
                  </a:moveTo>
                  <a:lnTo>
                    <a:pt x="330662" y="0"/>
                  </a:lnTo>
                  <a:lnTo>
                    <a:pt x="330662" y="137968"/>
                  </a:lnTo>
                  <a:lnTo>
                    <a:pt x="0" y="1379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0" y="146634"/>
              <a:ext cx="2361304" cy="258562"/>
            </a:xfrm>
            <a:prstGeom prst="rect">
              <a:avLst/>
            </a:prstGeom>
          </p:spPr>
          <p:txBody>
            <a:bodyPr anchor="t" rtlCol="false" tIns="0" lIns="0" bIns="0" rIns="0">
              <a:spAutoFit/>
            </a:bodyPr>
            <a:lstStyle/>
            <a:p>
              <a:pPr algn="ctr">
                <a:lnSpc>
                  <a:spcPts val="1471"/>
                </a:lnSpc>
              </a:pPr>
              <a:r>
                <a:rPr lang="en-US" sz="1374" spc="274">
                  <a:solidFill>
                    <a:srgbClr val="000000"/>
                  </a:solidFill>
                  <a:latin typeface="Open Sans"/>
                  <a:ea typeface="Open Sans"/>
                  <a:cs typeface="Open Sans"/>
                  <a:sym typeface="Open Sans"/>
                </a:rPr>
                <a:t>NEXT SLIDE</a:t>
              </a:r>
            </a:p>
          </p:txBody>
        </p:sp>
      </p:grpSp>
      <p:grpSp>
        <p:nvGrpSpPr>
          <p:cNvPr name="Group 15" id="15"/>
          <p:cNvGrpSpPr/>
          <p:nvPr/>
        </p:nvGrpSpPr>
        <p:grpSpPr>
          <a:xfrm rot="-10800000">
            <a:off x="0" y="9647848"/>
            <a:ext cx="18288000" cy="1810154"/>
            <a:chOff x="0" y="0"/>
            <a:chExt cx="4274726" cy="423114"/>
          </a:xfrm>
        </p:grpSpPr>
        <p:sp>
          <p:nvSpPr>
            <p:cNvPr name="Freeform 16" id="16"/>
            <p:cNvSpPr/>
            <p:nvPr/>
          </p:nvSpPr>
          <p:spPr>
            <a:xfrm flipH="false" flipV="false" rot="0">
              <a:off x="0" y="0"/>
              <a:ext cx="4274726" cy="423114"/>
            </a:xfrm>
            <a:custGeom>
              <a:avLst/>
              <a:gdLst/>
              <a:ahLst/>
              <a:cxnLst/>
              <a:rect r="r" b="b" t="t" l="l"/>
              <a:pathLst>
                <a:path h="423114" w="4274726">
                  <a:moveTo>
                    <a:pt x="8890" y="0"/>
                  </a:moveTo>
                  <a:lnTo>
                    <a:pt x="4265836" y="0"/>
                  </a:lnTo>
                  <a:cubicBezTo>
                    <a:pt x="4270746" y="0"/>
                    <a:pt x="4274726" y="3980"/>
                    <a:pt x="4274726" y="8890"/>
                  </a:cubicBezTo>
                  <a:lnTo>
                    <a:pt x="4274726" y="414224"/>
                  </a:lnTo>
                  <a:cubicBezTo>
                    <a:pt x="4274726" y="416582"/>
                    <a:pt x="4273789" y="418843"/>
                    <a:pt x="4272122" y="420510"/>
                  </a:cubicBezTo>
                  <a:cubicBezTo>
                    <a:pt x="4270455" y="422178"/>
                    <a:pt x="4268194" y="423114"/>
                    <a:pt x="4265836" y="423114"/>
                  </a:cubicBezTo>
                  <a:lnTo>
                    <a:pt x="8890" y="423114"/>
                  </a:lnTo>
                  <a:cubicBezTo>
                    <a:pt x="6532" y="423114"/>
                    <a:pt x="4271" y="422178"/>
                    <a:pt x="2604" y="420510"/>
                  </a:cubicBezTo>
                  <a:cubicBezTo>
                    <a:pt x="937" y="418843"/>
                    <a:pt x="0" y="416582"/>
                    <a:pt x="0" y="414224"/>
                  </a:cubicBezTo>
                  <a:lnTo>
                    <a:pt x="0" y="8890"/>
                  </a:lnTo>
                  <a:cubicBezTo>
                    <a:pt x="0" y="3980"/>
                    <a:pt x="3980" y="0"/>
                    <a:pt x="8890" y="0"/>
                  </a:cubicBezTo>
                  <a:close/>
                </a:path>
              </a:pathLst>
            </a:custGeom>
            <a:gradFill rotWithShape="true">
              <a:gsLst>
                <a:gs pos="0">
                  <a:srgbClr val="FFB73D">
                    <a:alpha val="41000"/>
                  </a:srgbClr>
                </a:gs>
                <a:gs pos="33333">
                  <a:srgbClr val="F6985C">
                    <a:alpha val="77500"/>
                  </a:srgbClr>
                </a:gs>
                <a:gs pos="66667">
                  <a:srgbClr val="C60000">
                    <a:alpha val="54500"/>
                  </a:srgbClr>
                </a:gs>
                <a:gs pos="100000">
                  <a:srgbClr val="C60000">
                    <a:alpha val="92000"/>
                  </a:srgbClr>
                </a:gs>
              </a:gsLst>
              <a:lin ang="5400000"/>
            </a:gradFill>
          </p:spPr>
        </p:sp>
        <p:sp>
          <p:nvSpPr>
            <p:cNvPr name="TextBox 17" id="17"/>
            <p:cNvSpPr txBox="true"/>
            <p:nvPr/>
          </p:nvSpPr>
          <p:spPr>
            <a:xfrm>
              <a:off x="0" y="66675"/>
              <a:ext cx="4274726" cy="356439"/>
            </a:xfrm>
            <a:prstGeom prst="rect">
              <a:avLst/>
            </a:prstGeom>
          </p:spPr>
          <p:txBody>
            <a:bodyPr anchor="ctr" rtlCol="false" tIns="50800" lIns="50800" bIns="50800" rIns="50800"/>
            <a:lstStyle/>
            <a:p>
              <a:pPr algn="ctr">
                <a:lnSpc>
                  <a:spcPts val="1468"/>
                </a:lnSpc>
              </a:pPr>
            </a:p>
          </p:txBody>
        </p:sp>
      </p:grpSp>
    </p:spTree>
  </p:cSld>
  <p:clrMapOvr>
    <a:masterClrMapping/>
  </p:clrMapOvr>
  <p:transition spd="slow">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7D9"/>
        </a:solidFill>
      </p:bgPr>
    </p:bg>
    <p:spTree>
      <p:nvGrpSpPr>
        <p:cNvPr id="1" name=""/>
        <p:cNvGrpSpPr/>
        <p:nvPr/>
      </p:nvGrpSpPr>
      <p:grpSpPr>
        <a:xfrm>
          <a:off x="0" y="0"/>
          <a:ext cx="0" cy="0"/>
          <a:chOff x="0" y="0"/>
          <a:chExt cx="0" cy="0"/>
        </a:xfrm>
      </p:grpSpPr>
      <p:sp>
        <p:nvSpPr>
          <p:cNvPr name="Freeform 2" id="2"/>
          <p:cNvSpPr/>
          <p:nvPr/>
        </p:nvSpPr>
        <p:spPr>
          <a:xfrm flipH="true" flipV="false" rot="-2840819">
            <a:off x="4364065" y="1344311"/>
            <a:ext cx="2150590" cy="2947719"/>
          </a:xfrm>
          <a:custGeom>
            <a:avLst/>
            <a:gdLst/>
            <a:ahLst/>
            <a:cxnLst/>
            <a:rect r="r" b="b" t="t" l="l"/>
            <a:pathLst>
              <a:path h="2947719" w="2150590">
                <a:moveTo>
                  <a:pt x="2150590" y="0"/>
                </a:moveTo>
                <a:lnTo>
                  <a:pt x="0" y="0"/>
                </a:lnTo>
                <a:lnTo>
                  <a:pt x="0" y="2947720"/>
                </a:lnTo>
                <a:lnTo>
                  <a:pt x="2150590" y="2947720"/>
                </a:lnTo>
                <a:lnTo>
                  <a:pt x="2150590" y="0"/>
                </a:lnTo>
                <a:close/>
              </a:path>
            </a:pathLst>
          </a:custGeom>
          <a:blipFill>
            <a:blip r:embed="rId2"/>
            <a:stretch>
              <a:fillRect l="0" t="0" r="0" b="0"/>
            </a:stretch>
          </a:blipFill>
        </p:spPr>
      </p:sp>
      <p:grpSp>
        <p:nvGrpSpPr>
          <p:cNvPr name="Group 3" id="3"/>
          <p:cNvGrpSpPr/>
          <p:nvPr/>
        </p:nvGrpSpPr>
        <p:grpSpPr>
          <a:xfrm rot="0">
            <a:off x="1028700" y="-577812"/>
            <a:ext cx="16230600" cy="1606512"/>
            <a:chOff x="0" y="0"/>
            <a:chExt cx="4274726" cy="423114"/>
          </a:xfrm>
        </p:grpSpPr>
        <p:sp>
          <p:nvSpPr>
            <p:cNvPr name="Freeform 4" id="4"/>
            <p:cNvSpPr/>
            <p:nvPr/>
          </p:nvSpPr>
          <p:spPr>
            <a:xfrm flipH="false" flipV="false" rot="0">
              <a:off x="0" y="0"/>
              <a:ext cx="4274726" cy="423114"/>
            </a:xfrm>
            <a:custGeom>
              <a:avLst/>
              <a:gdLst/>
              <a:ahLst/>
              <a:cxnLst/>
              <a:rect r="r" b="b" t="t" l="l"/>
              <a:pathLst>
                <a:path h="423114" w="4274726">
                  <a:moveTo>
                    <a:pt x="10017" y="0"/>
                  </a:moveTo>
                  <a:lnTo>
                    <a:pt x="4264709" y="0"/>
                  </a:lnTo>
                  <a:cubicBezTo>
                    <a:pt x="4267365" y="0"/>
                    <a:pt x="4269913" y="1055"/>
                    <a:pt x="4271792" y="2934"/>
                  </a:cubicBezTo>
                  <a:cubicBezTo>
                    <a:pt x="4273671" y="4812"/>
                    <a:pt x="4274726" y="7360"/>
                    <a:pt x="4274726" y="10017"/>
                  </a:cubicBezTo>
                  <a:lnTo>
                    <a:pt x="4274726" y="413097"/>
                  </a:lnTo>
                  <a:cubicBezTo>
                    <a:pt x="4274726" y="415754"/>
                    <a:pt x="4273671" y="418302"/>
                    <a:pt x="4271792" y="420180"/>
                  </a:cubicBezTo>
                  <a:cubicBezTo>
                    <a:pt x="4269913" y="422059"/>
                    <a:pt x="4267365" y="423114"/>
                    <a:pt x="4264709" y="423114"/>
                  </a:cubicBezTo>
                  <a:lnTo>
                    <a:pt x="10017" y="423114"/>
                  </a:lnTo>
                  <a:cubicBezTo>
                    <a:pt x="7360" y="423114"/>
                    <a:pt x="4812" y="422059"/>
                    <a:pt x="2934" y="420180"/>
                  </a:cubicBezTo>
                  <a:cubicBezTo>
                    <a:pt x="1055" y="418302"/>
                    <a:pt x="0" y="415754"/>
                    <a:pt x="0" y="413097"/>
                  </a:cubicBezTo>
                  <a:lnTo>
                    <a:pt x="0" y="10017"/>
                  </a:lnTo>
                  <a:cubicBezTo>
                    <a:pt x="0" y="7360"/>
                    <a:pt x="1055" y="4812"/>
                    <a:pt x="2934" y="2934"/>
                  </a:cubicBezTo>
                  <a:cubicBezTo>
                    <a:pt x="4812" y="1055"/>
                    <a:pt x="7360" y="0"/>
                    <a:pt x="10017" y="0"/>
                  </a:cubicBezTo>
                  <a:close/>
                </a:path>
              </a:pathLst>
            </a:custGeom>
            <a:gradFill rotWithShape="true">
              <a:gsLst>
                <a:gs pos="0">
                  <a:srgbClr val="FFB73D">
                    <a:alpha val="41000"/>
                  </a:srgbClr>
                </a:gs>
                <a:gs pos="33333">
                  <a:srgbClr val="F6985C">
                    <a:alpha val="77500"/>
                  </a:srgbClr>
                </a:gs>
                <a:gs pos="66667">
                  <a:srgbClr val="C60000">
                    <a:alpha val="54500"/>
                  </a:srgbClr>
                </a:gs>
                <a:gs pos="100000">
                  <a:srgbClr val="C60000">
                    <a:alpha val="92000"/>
                  </a:srgbClr>
                </a:gs>
              </a:gsLst>
              <a:lin ang="5400000"/>
            </a:gradFill>
          </p:spPr>
        </p:sp>
        <p:sp>
          <p:nvSpPr>
            <p:cNvPr name="TextBox 5" id="5"/>
            <p:cNvSpPr txBox="true"/>
            <p:nvPr/>
          </p:nvSpPr>
          <p:spPr>
            <a:xfrm>
              <a:off x="0" y="66675"/>
              <a:ext cx="4274726" cy="356439"/>
            </a:xfrm>
            <a:prstGeom prst="rect">
              <a:avLst/>
            </a:prstGeom>
          </p:spPr>
          <p:txBody>
            <a:bodyPr anchor="ctr" rtlCol="false" tIns="50800" lIns="50800" bIns="50800" rIns="50800"/>
            <a:lstStyle/>
            <a:p>
              <a:pPr algn="ctr">
                <a:lnSpc>
                  <a:spcPts val="1468"/>
                </a:lnSpc>
              </a:pPr>
            </a:p>
          </p:txBody>
        </p:sp>
      </p:grpSp>
      <p:grpSp>
        <p:nvGrpSpPr>
          <p:cNvPr name="Group 6" id="6"/>
          <p:cNvGrpSpPr/>
          <p:nvPr/>
        </p:nvGrpSpPr>
        <p:grpSpPr>
          <a:xfrm rot="0">
            <a:off x="-571902" y="3863991"/>
            <a:ext cx="8523390" cy="852339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3533"/>
            </a:solidFill>
          </p:spPr>
        </p:sp>
        <p:sp>
          <p:nvSpPr>
            <p:cNvPr name="TextBox 8" id="8"/>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Freeform 9" id="9"/>
          <p:cNvSpPr/>
          <p:nvPr/>
        </p:nvSpPr>
        <p:spPr>
          <a:xfrm flipH="false" flipV="false" rot="0">
            <a:off x="-182947" y="5168341"/>
            <a:ext cx="9064417" cy="5642600"/>
          </a:xfrm>
          <a:custGeom>
            <a:avLst/>
            <a:gdLst/>
            <a:ahLst/>
            <a:cxnLst/>
            <a:rect r="r" b="b" t="t" l="l"/>
            <a:pathLst>
              <a:path h="5642600" w="9064417">
                <a:moveTo>
                  <a:pt x="0" y="0"/>
                </a:moveTo>
                <a:lnTo>
                  <a:pt x="9064417" y="0"/>
                </a:lnTo>
                <a:lnTo>
                  <a:pt x="9064417" y="5642600"/>
                </a:lnTo>
                <a:lnTo>
                  <a:pt x="0" y="5642600"/>
                </a:lnTo>
                <a:lnTo>
                  <a:pt x="0" y="0"/>
                </a:lnTo>
                <a:close/>
              </a:path>
            </a:pathLst>
          </a:custGeom>
          <a:blipFill>
            <a:blip r:embed="rId3"/>
            <a:stretch>
              <a:fillRect l="0" t="0" r="0" b="0"/>
            </a:stretch>
          </a:blipFill>
        </p:spPr>
      </p:sp>
      <p:grpSp>
        <p:nvGrpSpPr>
          <p:cNvPr name="Group 10" id="10"/>
          <p:cNvGrpSpPr/>
          <p:nvPr/>
        </p:nvGrpSpPr>
        <p:grpSpPr>
          <a:xfrm rot="0">
            <a:off x="14972716" y="487837"/>
            <a:ext cx="2053742" cy="354893"/>
            <a:chOff x="0" y="0"/>
            <a:chExt cx="1015246" cy="175438"/>
          </a:xfrm>
        </p:grpSpPr>
        <p:sp>
          <p:nvSpPr>
            <p:cNvPr name="Freeform 11" id="11"/>
            <p:cNvSpPr/>
            <p:nvPr/>
          </p:nvSpPr>
          <p:spPr>
            <a:xfrm flipH="false" flipV="false" rot="0">
              <a:off x="0" y="0"/>
              <a:ext cx="1015246" cy="175438"/>
            </a:xfrm>
            <a:custGeom>
              <a:avLst/>
              <a:gdLst/>
              <a:ahLst/>
              <a:cxnLst/>
              <a:rect r="r" b="b" t="t" l="l"/>
              <a:pathLst>
                <a:path h="175438" w="1015246">
                  <a:moveTo>
                    <a:pt x="41466" y="0"/>
                  </a:moveTo>
                  <a:lnTo>
                    <a:pt x="973780" y="0"/>
                  </a:lnTo>
                  <a:cubicBezTo>
                    <a:pt x="984778" y="0"/>
                    <a:pt x="995325" y="4369"/>
                    <a:pt x="1003101" y="12145"/>
                  </a:cubicBezTo>
                  <a:cubicBezTo>
                    <a:pt x="1010878" y="19922"/>
                    <a:pt x="1015246" y="30469"/>
                    <a:pt x="1015246" y="41466"/>
                  </a:cubicBezTo>
                  <a:lnTo>
                    <a:pt x="1015246" y="133971"/>
                  </a:lnTo>
                  <a:cubicBezTo>
                    <a:pt x="1015246" y="156873"/>
                    <a:pt x="996681" y="175438"/>
                    <a:pt x="973780" y="175438"/>
                  </a:cubicBezTo>
                  <a:lnTo>
                    <a:pt x="41466" y="175438"/>
                  </a:lnTo>
                  <a:cubicBezTo>
                    <a:pt x="30469" y="175438"/>
                    <a:pt x="19922" y="171069"/>
                    <a:pt x="12145" y="163293"/>
                  </a:cubicBezTo>
                  <a:cubicBezTo>
                    <a:pt x="4369" y="155516"/>
                    <a:pt x="0" y="144969"/>
                    <a:pt x="0" y="133971"/>
                  </a:cubicBezTo>
                  <a:lnTo>
                    <a:pt x="0" y="41466"/>
                  </a:lnTo>
                  <a:cubicBezTo>
                    <a:pt x="0" y="30469"/>
                    <a:pt x="4369" y="19922"/>
                    <a:pt x="12145" y="12145"/>
                  </a:cubicBezTo>
                  <a:cubicBezTo>
                    <a:pt x="19922" y="4369"/>
                    <a:pt x="30469" y="0"/>
                    <a:pt x="41466" y="0"/>
                  </a:cubicBezTo>
                  <a:close/>
                </a:path>
              </a:pathLst>
            </a:custGeom>
            <a:solidFill>
              <a:srgbClr val="FFFFFF">
                <a:alpha val="37647"/>
              </a:srgbClr>
            </a:solidFill>
          </p:spPr>
        </p:sp>
        <p:sp>
          <p:nvSpPr>
            <p:cNvPr name="TextBox 12" id="12"/>
            <p:cNvSpPr txBox="true"/>
            <p:nvPr/>
          </p:nvSpPr>
          <p:spPr>
            <a:xfrm>
              <a:off x="0" y="-38100"/>
              <a:ext cx="1015246" cy="213538"/>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6544459" y="487837"/>
            <a:ext cx="481998" cy="354893"/>
            <a:chOff x="0" y="0"/>
            <a:chExt cx="238271" cy="175438"/>
          </a:xfrm>
        </p:grpSpPr>
        <p:sp>
          <p:nvSpPr>
            <p:cNvPr name="Freeform 14" id="14"/>
            <p:cNvSpPr/>
            <p:nvPr/>
          </p:nvSpPr>
          <p:spPr>
            <a:xfrm flipH="false" flipV="false" rot="0">
              <a:off x="0" y="0"/>
              <a:ext cx="238271" cy="175438"/>
            </a:xfrm>
            <a:custGeom>
              <a:avLst/>
              <a:gdLst/>
              <a:ahLst/>
              <a:cxnLst/>
              <a:rect r="r" b="b" t="t" l="l"/>
              <a:pathLst>
                <a:path h="175438" w="238271">
                  <a:moveTo>
                    <a:pt x="87719" y="0"/>
                  </a:moveTo>
                  <a:lnTo>
                    <a:pt x="150552" y="0"/>
                  </a:lnTo>
                  <a:cubicBezTo>
                    <a:pt x="198998" y="0"/>
                    <a:pt x="238271" y="39273"/>
                    <a:pt x="238271" y="87719"/>
                  </a:cubicBezTo>
                  <a:lnTo>
                    <a:pt x="238271" y="87719"/>
                  </a:lnTo>
                  <a:cubicBezTo>
                    <a:pt x="238271" y="136165"/>
                    <a:pt x="198998" y="175438"/>
                    <a:pt x="150552" y="175438"/>
                  </a:cubicBezTo>
                  <a:lnTo>
                    <a:pt x="87719" y="175438"/>
                  </a:lnTo>
                  <a:cubicBezTo>
                    <a:pt x="39273" y="175438"/>
                    <a:pt x="0" y="136165"/>
                    <a:pt x="0" y="87719"/>
                  </a:cubicBezTo>
                  <a:lnTo>
                    <a:pt x="0" y="87719"/>
                  </a:lnTo>
                  <a:cubicBezTo>
                    <a:pt x="0" y="39273"/>
                    <a:pt x="39273" y="0"/>
                    <a:pt x="87719" y="0"/>
                  </a:cubicBezTo>
                  <a:close/>
                </a:path>
              </a:pathLst>
            </a:custGeom>
            <a:solidFill>
              <a:srgbClr val="FFFFFF">
                <a:alpha val="83922"/>
              </a:srgbClr>
            </a:solidFill>
          </p:spPr>
        </p:sp>
        <p:sp>
          <p:nvSpPr>
            <p:cNvPr name="TextBox 15" id="15"/>
            <p:cNvSpPr txBox="true"/>
            <p:nvPr/>
          </p:nvSpPr>
          <p:spPr>
            <a:xfrm>
              <a:off x="0" y="-38100"/>
              <a:ext cx="238271" cy="213538"/>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6675410" y="619366"/>
            <a:ext cx="220097" cy="91835"/>
          </a:xfrm>
          <a:custGeom>
            <a:avLst/>
            <a:gdLst/>
            <a:ahLst/>
            <a:cxnLst/>
            <a:rect r="r" b="b" t="t" l="l"/>
            <a:pathLst>
              <a:path h="91835" w="220097">
                <a:moveTo>
                  <a:pt x="0" y="0"/>
                </a:moveTo>
                <a:lnTo>
                  <a:pt x="220097" y="0"/>
                </a:lnTo>
                <a:lnTo>
                  <a:pt x="220097" y="91834"/>
                </a:lnTo>
                <a:lnTo>
                  <a:pt x="0" y="918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5400000">
            <a:off x="-93562" y="8634042"/>
            <a:ext cx="1360561" cy="343851"/>
          </a:xfrm>
          <a:custGeom>
            <a:avLst/>
            <a:gdLst/>
            <a:ahLst/>
            <a:cxnLst/>
            <a:rect r="r" b="b" t="t" l="l"/>
            <a:pathLst>
              <a:path h="343851" w="1360561">
                <a:moveTo>
                  <a:pt x="0" y="0"/>
                </a:moveTo>
                <a:lnTo>
                  <a:pt x="1360561" y="0"/>
                </a:lnTo>
                <a:lnTo>
                  <a:pt x="1360561" y="343850"/>
                </a:lnTo>
                <a:lnTo>
                  <a:pt x="0" y="3438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7983053">
            <a:off x="343082" y="2197948"/>
            <a:ext cx="1307193" cy="3195772"/>
          </a:xfrm>
          <a:custGeom>
            <a:avLst/>
            <a:gdLst/>
            <a:ahLst/>
            <a:cxnLst/>
            <a:rect r="r" b="b" t="t" l="l"/>
            <a:pathLst>
              <a:path h="3195772" w="1307193">
                <a:moveTo>
                  <a:pt x="0" y="0"/>
                </a:moveTo>
                <a:lnTo>
                  <a:pt x="1307193" y="0"/>
                </a:lnTo>
                <a:lnTo>
                  <a:pt x="1307193" y="3195772"/>
                </a:lnTo>
                <a:lnTo>
                  <a:pt x="0" y="3195772"/>
                </a:lnTo>
                <a:lnTo>
                  <a:pt x="0" y="0"/>
                </a:lnTo>
                <a:close/>
              </a:path>
            </a:pathLst>
          </a:custGeom>
          <a:blipFill>
            <a:blip r:embed="rId8"/>
            <a:stretch>
              <a:fillRect l="0" t="0" r="0" b="0"/>
            </a:stretch>
          </a:blipFill>
        </p:spPr>
      </p:sp>
      <p:grpSp>
        <p:nvGrpSpPr>
          <p:cNvPr name="Group 19" id="19"/>
          <p:cNvGrpSpPr/>
          <p:nvPr/>
        </p:nvGrpSpPr>
        <p:grpSpPr>
          <a:xfrm rot="0">
            <a:off x="4492668" y="3418508"/>
            <a:ext cx="1826434" cy="182643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142D"/>
            </a:solidFill>
          </p:spPr>
        </p:sp>
        <p:sp>
          <p:nvSpPr>
            <p:cNvPr name="TextBox 21" id="21"/>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Freeform 22" id="22"/>
          <p:cNvSpPr/>
          <p:nvPr/>
        </p:nvSpPr>
        <p:spPr>
          <a:xfrm flipH="true" flipV="false" rot="0">
            <a:off x="4760230" y="3694288"/>
            <a:ext cx="1291310" cy="1274875"/>
          </a:xfrm>
          <a:custGeom>
            <a:avLst/>
            <a:gdLst/>
            <a:ahLst/>
            <a:cxnLst/>
            <a:rect r="r" b="b" t="t" l="l"/>
            <a:pathLst>
              <a:path h="1274875" w="1291310">
                <a:moveTo>
                  <a:pt x="1291310" y="0"/>
                </a:moveTo>
                <a:lnTo>
                  <a:pt x="0" y="0"/>
                </a:lnTo>
                <a:lnTo>
                  <a:pt x="0" y="1274875"/>
                </a:lnTo>
                <a:lnTo>
                  <a:pt x="1291310" y="1274875"/>
                </a:lnTo>
                <a:lnTo>
                  <a:pt x="129131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4972716" y="591810"/>
            <a:ext cx="1571743" cy="165735"/>
          </a:xfrm>
          <a:prstGeom prst="rect">
            <a:avLst/>
          </a:prstGeom>
        </p:spPr>
        <p:txBody>
          <a:bodyPr anchor="t" rtlCol="false" tIns="0" lIns="0" bIns="0" rIns="0">
            <a:spAutoFit/>
          </a:bodyPr>
          <a:lstStyle/>
          <a:p>
            <a:pPr algn="ctr">
              <a:lnSpc>
                <a:spcPts val="1305"/>
              </a:lnSpc>
            </a:pPr>
            <a:r>
              <a:rPr lang="en-US" sz="1220" spc="244">
                <a:solidFill>
                  <a:srgbClr val="000000"/>
                </a:solidFill>
                <a:latin typeface="Open Sans"/>
                <a:ea typeface="Open Sans"/>
                <a:cs typeface="Open Sans"/>
                <a:sym typeface="Open Sans"/>
              </a:rPr>
              <a:t>NEXT SLIDE</a:t>
            </a:r>
          </a:p>
        </p:txBody>
      </p:sp>
      <p:grpSp>
        <p:nvGrpSpPr>
          <p:cNvPr name="Group 24" id="24"/>
          <p:cNvGrpSpPr/>
          <p:nvPr/>
        </p:nvGrpSpPr>
        <p:grpSpPr>
          <a:xfrm rot="0">
            <a:off x="4114769" y="5168341"/>
            <a:ext cx="755798" cy="755798"/>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142D"/>
            </a:solidFill>
          </p:spPr>
        </p:sp>
        <p:sp>
          <p:nvSpPr>
            <p:cNvPr name="TextBox 26" id="26"/>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TextBox 27" id="27"/>
          <p:cNvSpPr txBox="true"/>
          <p:nvPr/>
        </p:nvSpPr>
        <p:spPr>
          <a:xfrm rot="0">
            <a:off x="8881470" y="1985135"/>
            <a:ext cx="8115300" cy="1737138"/>
          </a:xfrm>
          <a:prstGeom prst="rect">
            <a:avLst/>
          </a:prstGeom>
        </p:spPr>
        <p:txBody>
          <a:bodyPr anchor="t" rtlCol="false" tIns="0" lIns="0" bIns="0" rIns="0">
            <a:spAutoFit/>
          </a:bodyPr>
          <a:lstStyle/>
          <a:p>
            <a:pPr algn="l">
              <a:lnSpc>
                <a:spcPts val="6056"/>
              </a:lnSpc>
            </a:pPr>
            <a:r>
              <a:rPr lang="en-US" sz="6056" b="true">
                <a:solidFill>
                  <a:srgbClr val="000000"/>
                </a:solidFill>
                <a:latin typeface="Agrandir Bold"/>
                <a:ea typeface="Agrandir Bold"/>
                <a:cs typeface="Agrandir Bold"/>
                <a:sym typeface="Agrandir Bold"/>
              </a:rPr>
              <a:t>Phân tích Dữ liệu (Data An</a:t>
            </a:r>
            <a:r>
              <a:rPr lang="en-US" sz="6056" b="true">
                <a:solidFill>
                  <a:srgbClr val="000000"/>
                </a:solidFill>
                <a:latin typeface="Agrandir Bold"/>
                <a:ea typeface="Agrandir Bold"/>
                <a:cs typeface="Agrandir Bold"/>
                <a:sym typeface="Agrandir Bold"/>
              </a:rPr>
              <a:t>alysis) </a:t>
            </a:r>
          </a:p>
        </p:txBody>
      </p:sp>
      <p:sp>
        <p:nvSpPr>
          <p:cNvPr name="TextBox 28" id="28"/>
          <p:cNvSpPr txBox="true"/>
          <p:nvPr/>
        </p:nvSpPr>
        <p:spPr>
          <a:xfrm rot="0">
            <a:off x="8881470" y="4444638"/>
            <a:ext cx="8115300" cy="390525"/>
          </a:xfrm>
          <a:prstGeom prst="rect">
            <a:avLst/>
          </a:prstGeom>
        </p:spPr>
        <p:txBody>
          <a:bodyPr anchor="t" rtlCol="false" tIns="0" lIns="0" bIns="0" rIns="0">
            <a:spAutoFit/>
          </a:bodyPr>
          <a:lstStyle/>
          <a:p>
            <a:pPr algn="l" marL="556943" indent="-278471" lvl="1">
              <a:lnSpc>
                <a:spcPts val="3095"/>
              </a:lnSpc>
              <a:buFont typeface="Arial"/>
              <a:buChar char="•"/>
            </a:pPr>
            <a:r>
              <a:rPr lang="en-US" sz="2579">
                <a:solidFill>
                  <a:srgbClr val="FFFFFF"/>
                </a:solidFill>
                <a:latin typeface="Nourd"/>
                <a:ea typeface="Nourd"/>
                <a:cs typeface="Nourd"/>
                <a:sym typeface="Nourd"/>
              </a:rPr>
              <a:t>Phân tích xu hướng</a:t>
            </a:r>
          </a:p>
        </p:txBody>
      </p:sp>
      <p:sp>
        <p:nvSpPr>
          <p:cNvPr name="TextBox 29" id="29"/>
          <p:cNvSpPr txBox="true"/>
          <p:nvPr/>
        </p:nvSpPr>
        <p:spPr>
          <a:xfrm rot="0">
            <a:off x="8881470" y="5969665"/>
            <a:ext cx="5859439" cy="390525"/>
          </a:xfrm>
          <a:prstGeom prst="rect">
            <a:avLst/>
          </a:prstGeom>
        </p:spPr>
        <p:txBody>
          <a:bodyPr anchor="t" rtlCol="false" tIns="0" lIns="0" bIns="0" rIns="0">
            <a:spAutoFit/>
          </a:bodyPr>
          <a:lstStyle/>
          <a:p>
            <a:pPr algn="l" marL="556943" indent="-278471" lvl="1">
              <a:lnSpc>
                <a:spcPts val="3095"/>
              </a:lnSpc>
              <a:buFont typeface="Arial"/>
              <a:buChar char="•"/>
            </a:pPr>
            <a:r>
              <a:rPr lang="en-US" sz="2579">
                <a:solidFill>
                  <a:srgbClr val="FFFFFF"/>
                </a:solidFill>
                <a:latin typeface="Nourd"/>
                <a:ea typeface="Nourd"/>
                <a:cs typeface="Nourd"/>
                <a:sym typeface="Nourd"/>
              </a:rPr>
              <a:t>Phân tích dự đoán </a:t>
            </a:r>
          </a:p>
        </p:txBody>
      </p:sp>
      <p:sp>
        <p:nvSpPr>
          <p:cNvPr name="TextBox 30" id="30"/>
          <p:cNvSpPr txBox="true"/>
          <p:nvPr/>
        </p:nvSpPr>
        <p:spPr>
          <a:xfrm rot="0">
            <a:off x="8881470" y="5207665"/>
            <a:ext cx="7531410" cy="390525"/>
          </a:xfrm>
          <a:prstGeom prst="rect">
            <a:avLst/>
          </a:prstGeom>
        </p:spPr>
        <p:txBody>
          <a:bodyPr anchor="t" rtlCol="false" tIns="0" lIns="0" bIns="0" rIns="0">
            <a:spAutoFit/>
          </a:bodyPr>
          <a:lstStyle/>
          <a:p>
            <a:pPr algn="l" marL="556943" indent="-278471" lvl="1">
              <a:lnSpc>
                <a:spcPts val="3095"/>
              </a:lnSpc>
              <a:buFont typeface="Arial"/>
              <a:buChar char="•"/>
            </a:pPr>
            <a:r>
              <a:rPr lang="en-US" sz="2579">
                <a:solidFill>
                  <a:srgbClr val="FFFFFF"/>
                </a:solidFill>
                <a:latin typeface="Nourd"/>
                <a:ea typeface="Nourd"/>
                <a:cs typeface="Nourd"/>
                <a:sym typeface="Nourd"/>
              </a:rPr>
              <a:t>Phân tích so sánh &amp; tương quan</a:t>
            </a:r>
          </a:p>
        </p:txBody>
      </p:sp>
      <p:sp>
        <p:nvSpPr>
          <p:cNvPr name="AutoShape 31" id="31"/>
          <p:cNvSpPr/>
          <p:nvPr/>
        </p:nvSpPr>
        <p:spPr>
          <a:xfrm>
            <a:off x="-571902" y="0"/>
            <a:ext cx="5977787" cy="4331725"/>
          </a:xfrm>
          <a:prstGeom prst="line">
            <a:avLst/>
          </a:prstGeom>
          <a:ln cap="flat" w="38100">
            <a:solidFill>
              <a:srgbClr val="C1142D"/>
            </a:solidFill>
            <a:prstDash val="sysDot"/>
            <a:headEnd type="none" len="sm" w="sm"/>
            <a:tailEnd type="none" len="sm" w="sm"/>
          </a:ln>
        </p:spPr>
      </p:sp>
      <p:sp>
        <p:nvSpPr>
          <p:cNvPr name="Freeform 32" id="32"/>
          <p:cNvSpPr/>
          <p:nvPr/>
        </p:nvSpPr>
        <p:spPr>
          <a:xfrm flipH="false" flipV="false" rot="0">
            <a:off x="12023031" y="9058208"/>
            <a:ext cx="3149851" cy="383709"/>
          </a:xfrm>
          <a:custGeom>
            <a:avLst/>
            <a:gdLst/>
            <a:ahLst/>
            <a:cxnLst/>
            <a:rect r="r" b="b" t="t" l="l"/>
            <a:pathLst>
              <a:path h="383709" w="3149851">
                <a:moveTo>
                  <a:pt x="0" y="0"/>
                </a:moveTo>
                <a:lnTo>
                  <a:pt x="3149850" y="0"/>
                </a:lnTo>
                <a:lnTo>
                  <a:pt x="3149850" y="383709"/>
                </a:lnTo>
                <a:lnTo>
                  <a:pt x="0" y="38370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transition spd="slow">
    <p:push dir="u"/>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31000"/>
              </a:srgbClr>
            </a:gs>
            <a:gs pos="100000">
              <a:srgbClr val="D187D0">
                <a:alpha val="34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8437570" y="259778"/>
            <a:ext cx="7885284" cy="4636072"/>
          </a:xfrm>
          <a:custGeom>
            <a:avLst/>
            <a:gdLst/>
            <a:ahLst/>
            <a:cxnLst/>
            <a:rect r="r" b="b" t="t" l="l"/>
            <a:pathLst>
              <a:path h="4636072" w="7885284">
                <a:moveTo>
                  <a:pt x="0" y="0"/>
                </a:moveTo>
                <a:lnTo>
                  <a:pt x="7885284" y="0"/>
                </a:lnTo>
                <a:lnTo>
                  <a:pt x="7885284" y="4636072"/>
                </a:lnTo>
                <a:lnTo>
                  <a:pt x="0" y="4636072"/>
                </a:lnTo>
                <a:lnTo>
                  <a:pt x="0" y="0"/>
                </a:lnTo>
                <a:close/>
              </a:path>
            </a:pathLst>
          </a:custGeom>
          <a:blipFill>
            <a:blip r:embed="rId2"/>
            <a:stretch>
              <a:fillRect l="0" t="0" r="0" b="0"/>
            </a:stretch>
          </a:blipFill>
        </p:spPr>
      </p:sp>
      <p:sp>
        <p:nvSpPr>
          <p:cNvPr name="Freeform 3" id="3"/>
          <p:cNvSpPr/>
          <p:nvPr/>
        </p:nvSpPr>
        <p:spPr>
          <a:xfrm flipH="false" flipV="false" rot="0">
            <a:off x="1965146" y="327396"/>
            <a:ext cx="5882488" cy="4500836"/>
          </a:xfrm>
          <a:custGeom>
            <a:avLst/>
            <a:gdLst/>
            <a:ahLst/>
            <a:cxnLst/>
            <a:rect r="r" b="b" t="t" l="l"/>
            <a:pathLst>
              <a:path h="4500836" w="5882488">
                <a:moveTo>
                  <a:pt x="0" y="0"/>
                </a:moveTo>
                <a:lnTo>
                  <a:pt x="5882488" y="0"/>
                </a:lnTo>
                <a:lnTo>
                  <a:pt x="5882488" y="4500836"/>
                </a:lnTo>
                <a:lnTo>
                  <a:pt x="0" y="4500836"/>
                </a:lnTo>
                <a:lnTo>
                  <a:pt x="0" y="0"/>
                </a:lnTo>
                <a:close/>
              </a:path>
            </a:pathLst>
          </a:custGeom>
          <a:blipFill>
            <a:blip r:embed="rId3"/>
            <a:stretch>
              <a:fillRect l="0" t="0" r="0" b="0"/>
            </a:stretch>
          </a:blipFill>
        </p:spPr>
      </p:sp>
      <p:sp>
        <p:nvSpPr>
          <p:cNvPr name="Freeform 4" id="4"/>
          <p:cNvSpPr/>
          <p:nvPr/>
        </p:nvSpPr>
        <p:spPr>
          <a:xfrm flipH="true" flipV="false" rot="0">
            <a:off x="-279065" y="6023887"/>
            <a:ext cx="4402635" cy="4402635"/>
          </a:xfrm>
          <a:custGeom>
            <a:avLst/>
            <a:gdLst/>
            <a:ahLst/>
            <a:cxnLst/>
            <a:rect r="r" b="b" t="t" l="l"/>
            <a:pathLst>
              <a:path h="4402635" w="4402635">
                <a:moveTo>
                  <a:pt x="4402635" y="0"/>
                </a:moveTo>
                <a:lnTo>
                  <a:pt x="0" y="0"/>
                </a:lnTo>
                <a:lnTo>
                  <a:pt x="0" y="4402635"/>
                </a:lnTo>
                <a:lnTo>
                  <a:pt x="4402635" y="4402635"/>
                </a:lnTo>
                <a:lnTo>
                  <a:pt x="44026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666661" y="8739629"/>
            <a:ext cx="849339" cy="84933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133350"/>
              <a:ext cx="660400" cy="603250"/>
            </a:xfrm>
            <a:prstGeom prst="rect">
              <a:avLst/>
            </a:prstGeom>
          </p:spPr>
          <p:txBody>
            <a:bodyPr anchor="ctr" rtlCol="false" tIns="50800" lIns="50800" bIns="50800" rIns="50800"/>
            <a:lstStyle/>
            <a:p>
              <a:pPr algn="ctr">
                <a:lnSpc>
                  <a:spcPts val="1468"/>
                </a:lnSpc>
              </a:pPr>
            </a:p>
          </p:txBody>
        </p:sp>
      </p:grpSp>
      <p:sp>
        <p:nvSpPr>
          <p:cNvPr name="Freeform 8" id="8"/>
          <p:cNvSpPr/>
          <p:nvPr/>
        </p:nvSpPr>
        <p:spPr>
          <a:xfrm flipH="false" flipV="false" rot="0">
            <a:off x="14164430" y="6023887"/>
            <a:ext cx="4402635" cy="4402635"/>
          </a:xfrm>
          <a:custGeom>
            <a:avLst/>
            <a:gdLst/>
            <a:ahLst/>
            <a:cxnLst/>
            <a:rect r="r" b="b" t="t" l="l"/>
            <a:pathLst>
              <a:path h="4402635" w="4402635">
                <a:moveTo>
                  <a:pt x="0" y="0"/>
                </a:moveTo>
                <a:lnTo>
                  <a:pt x="4402635" y="0"/>
                </a:lnTo>
                <a:lnTo>
                  <a:pt x="4402635" y="4402635"/>
                </a:lnTo>
                <a:lnTo>
                  <a:pt x="0" y="44026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965146" y="5143500"/>
            <a:ext cx="14638361" cy="1225963"/>
          </a:xfrm>
          <a:custGeom>
            <a:avLst/>
            <a:gdLst/>
            <a:ahLst/>
            <a:cxnLst/>
            <a:rect r="r" b="b" t="t" l="l"/>
            <a:pathLst>
              <a:path h="1225963" w="14638361">
                <a:moveTo>
                  <a:pt x="0" y="0"/>
                </a:moveTo>
                <a:lnTo>
                  <a:pt x="14638361" y="0"/>
                </a:lnTo>
                <a:lnTo>
                  <a:pt x="14638361" y="1225963"/>
                </a:lnTo>
                <a:lnTo>
                  <a:pt x="0" y="1225963"/>
                </a:lnTo>
                <a:lnTo>
                  <a:pt x="0" y="0"/>
                </a:lnTo>
                <a:close/>
              </a:path>
            </a:pathLst>
          </a:custGeom>
          <a:blipFill>
            <a:blip r:embed="rId6"/>
            <a:stretch>
              <a:fillRect l="0" t="0" r="0" b="0"/>
            </a:stretch>
          </a:blipFill>
        </p:spPr>
      </p:sp>
      <p:sp>
        <p:nvSpPr>
          <p:cNvPr name="Freeform 10" id="10"/>
          <p:cNvSpPr/>
          <p:nvPr/>
        </p:nvSpPr>
        <p:spPr>
          <a:xfrm flipH="false" flipV="false" rot="0">
            <a:off x="1965146" y="6645688"/>
            <a:ext cx="10460206" cy="1686729"/>
          </a:xfrm>
          <a:custGeom>
            <a:avLst/>
            <a:gdLst/>
            <a:ahLst/>
            <a:cxnLst/>
            <a:rect r="r" b="b" t="t" l="l"/>
            <a:pathLst>
              <a:path h="1686729" w="10460206">
                <a:moveTo>
                  <a:pt x="0" y="0"/>
                </a:moveTo>
                <a:lnTo>
                  <a:pt x="10460206" y="0"/>
                </a:lnTo>
                <a:lnTo>
                  <a:pt x="10460206" y="1686729"/>
                </a:lnTo>
                <a:lnTo>
                  <a:pt x="0" y="1686729"/>
                </a:lnTo>
                <a:lnTo>
                  <a:pt x="0" y="0"/>
                </a:lnTo>
                <a:close/>
              </a:path>
            </a:pathLst>
          </a:custGeom>
          <a:blipFill>
            <a:blip r:embed="rId7"/>
            <a:stretch>
              <a:fillRect l="0" t="-838" r="0" b="-838"/>
            </a:stretch>
          </a:blipFill>
        </p:spPr>
      </p:sp>
      <p:sp>
        <p:nvSpPr>
          <p:cNvPr name="TextBox 11" id="11"/>
          <p:cNvSpPr txBox="true"/>
          <p:nvPr/>
        </p:nvSpPr>
        <p:spPr>
          <a:xfrm rot="0">
            <a:off x="12534191" y="6675617"/>
            <a:ext cx="4725109" cy="1684020"/>
          </a:xfrm>
          <a:prstGeom prst="rect">
            <a:avLst/>
          </a:prstGeom>
        </p:spPr>
        <p:txBody>
          <a:bodyPr anchor="t" rtlCol="false" tIns="0" lIns="0" bIns="0" rIns="0">
            <a:spAutoFit/>
          </a:bodyPr>
          <a:lstStyle/>
          <a:p>
            <a:pPr algn="ctr">
              <a:lnSpc>
                <a:spcPts val="6540"/>
              </a:lnSpc>
            </a:pPr>
            <a:r>
              <a:rPr lang="en-US" b="true" sz="6000" spc="96">
                <a:solidFill>
                  <a:srgbClr val="000000"/>
                </a:solidFill>
                <a:latin typeface="Fira Sans Bold"/>
                <a:ea typeface="Fira Sans Bold"/>
                <a:cs typeface="Fira Sans Bold"/>
                <a:sym typeface="Fira Sans Bold"/>
              </a:rPr>
              <a:t>PHÂN TÍCH XU HƯỚNG</a:t>
            </a:r>
          </a:p>
        </p:txBody>
      </p:sp>
      <p:sp>
        <p:nvSpPr>
          <p:cNvPr name="TextBox 12" id="12"/>
          <p:cNvSpPr txBox="true"/>
          <p:nvPr/>
        </p:nvSpPr>
        <p:spPr>
          <a:xfrm rot="0">
            <a:off x="1780339" y="8965732"/>
            <a:ext cx="15007975" cy="623236"/>
          </a:xfrm>
          <a:prstGeom prst="rect">
            <a:avLst/>
          </a:prstGeom>
        </p:spPr>
        <p:txBody>
          <a:bodyPr anchor="t" rtlCol="false" tIns="0" lIns="0" bIns="0" rIns="0">
            <a:spAutoFit/>
          </a:bodyPr>
          <a:lstStyle/>
          <a:p>
            <a:pPr algn="ctr">
              <a:lnSpc>
                <a:spcPts val="4779"/>
              </a:lnSpc>
            </a:pPr>
            <a:r>
              <a:rPr lang="en-US" sz="4385" spc="70">
                <a:solidFill>
                  <a:srgbClr val="000000"/>
                </a:solidFill>
                <a:latin typeface="Fira Sans"/>
                <a:ea typeface="Fira Sans"/>
                <a:cs typeface="Fira Sans"/>
                <a:sym typeface="Fira Sans"/>
              </a:rPr>
              <a:t>Biểu đồ tỷ lệ giới tính khách hàng và phân phối  độ tuổi</a:t>
            </a:r>
          </a:p>
        </p:txBody>
      </p:sp>
      <p:sp>
        <p:nvSpPr>
          <p:cNvPr name="Freeform 13" id="13"/>
          <p:cNvSpPr/>
          <p:nvPr/>
        </p:nvSpPr>
        <p:spPr>
          <a:xfrm flipH="false" flipV="false" rot="1204850">
            <a:off x="1782291" y="3684729"/>
            <a:ext cx="1118768" cy="1306417"/>
          </a:xfrm>
          <a:custGeom>
            <a:avLst/>
            <a:gdLst/>
            <a:ahLst/>
            <a:cxnLst/>
            <a:rect r="r" b="b" t="t" l="l"/>
            <a:pathLst>
              <a:path h="1306417" w="1118768">
                <a:moveTo>
                  <a:pt x="0" y="0"/>
                </a:moveTo>
                <a:lnTo>
                  <a:pt x="1118769" y="0"/>
                </a:lnTo>
                <a:lnTo>
                  <a:pt x="1118769" y="1306418"/>
                </a:lnTo>
                <a:lnTo>
                  <a:pt x="0" y="13064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true" flipV="false" rot="-1892771">
            <a:off x="16985934" y="6565593"/>
            <a:ext cx="1118768" cy="1306417"/>
          </a:xfrm>
          <a:custGeom>
            <a:avLst/>
            <a:gdLst/>
            <a:ahLst/>
            <a:cxnLst/>
            <a:rect r="r" b="b" t="t" l="l"/>
            <a:pathLst>
              <a:path h="1306417" w="1118768">
                <a:moveTo>
                  <a:pt x="1118768" y="0"/>
                </a:moveTo>
                <a:lnTo>
                  <a:pt x="0" y="0"/>
                </a:lnTo>
                <a:lnTo>
                  <a:pt x="0" y="1306417"/>
                </a:lnTo>
                <a:lnTo>
                  <a:pt x="1118768" y="1306417"/>
                </a:lnTo>
                <a:lnTo>
                  <a:pt x="1118768"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16533837" y="1028700"/>
            <a:ext cx="1011481" cy="10114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17" id="17"/>
            <p:cNvSpPr txBox="true"/>
            <p:nvPr/>
          </p:nvSpPr>
          <p:spPr>
            <a:xfrm>
              <a:off x="76200" y="133350"/>
              <a:ext cx="660400" cy="603250"/>
            </a:xfrm>
            <a:prstGeom prst="rect">
              <a:avLst/>
            </a:prstGeom>
          </p:spPr>
          <p:txBody>
            <a:bodyPr anchor="ctr" rtlCol="false" tIns="50800" lIns="50800" bIns="50800" rIns="50800"/>
            <a:lstStyle/>
            <a:p>
              <a:pPr algn="ctr">
                <a:lnSpc>
                  <a:spcPts val="1468"/>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31000"/>
              </a:srgbClr>
            </a:gs>
            <a:gs pos="100000">
              <a:srgbClr val="D187D0">
                <a:alpha val="34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true" rot="0">
            <a:off x="14201301" y="0"/>
            <a:ext cx="4402635" cy="4402635"/>
          </a:xfrm>
          <a:custGeom>
            <a:avLst/>
            <a:gdLst/>
            <a:ahLst/>
            <a:cxnLst/>
            <a:rect r="r" b="b" t="t" l="l"/>
            <a:pathLst>
              <a:path h="4402635" w="4402635">
                <a:moveTo>
                  <a:pt x="0" y="4402635"/>
                </a:moveTo>
                <a:lnTo>
                  <a:pt x="4402635" y="4402635"/>
                </a:lnTo>
                <a:lnTo>
                  <a:pt x="4402635" y="0"/>
                </a:lnTo>
                <a:lnTo>
                  <a:pt x="0" y="0"/>
                </a:lnTo>
                <a:lnTo>
                  <a:pt x="0" y="4402635"/>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35187" y="636797"/>
            <a:ext cx="16017627" cy="4506703"/>
            <a:chOff x="0" y="0"/>
            <a:chExt cx="21356835" cy="6008938"/>
          </a:xfrm>
        </p:grpSpPr>
        <p:sp>
          <p:nvSpPr>
            <p:cNvPr name="Freeform 4" id="4"/>
            <p:cNvSpPr/>
            <p:nvPr/>
          </p:nvSpPr>
          <p:spPr>
            <a:xfrm flipH="false" flipV="false" rot="0">
              <a:off x="10381607" y="0"/>
              <a:ext cx="10975229" cy="6008938"/>
            </a:xfrm>
            <a:custGeom>
              <a:avLst/>
              <a:gdLst/>
              <a:ahLst/>
              <a:cxnLst/>
              <a:rect r="r" b="b" t="t" l="l"/>
              <a:pathLst>
                <a:path h="6008938" w="10975229">
                  <a:moveTo>
                    <a:pt x="0" y="0"/>
                  </a:moveTo>
                  <a:lnTo>
                    <a:pt x="10975228" y="0"/>
                  </a:lnTo>
                  <a:lnTo>
                    <a:pt x="10975228" y="6008938"/>
                  </a:lnTo>
                  <a:lnTo>
                    <a:pt x="0" y="6008938"/>
                  </a:lnTo>
                  <a:lnTo>
                    <a:pt x="0" y="0"/>
                  </a:lnTo>
                  <a:close/>
                </a:path>
              </a:pathLst>
            </a:custGeom>
            <a:blipFill>
              <a:blip r:embed="rId4"/>
              <a:stretch>
                <a:fillRect l="0" t="0" r="0" b="0"/>
              </a:stretch>
            </a:blipFill>
          </p:spPr>
        </p:sp>
        <p:sp>
          <p:nvSpPr>
            <p:cNvPr name="Freeform 5" id="5"/>
            <p:cNvSpPr/>
            <p:nvPr/>
          </p:nvSpPr>
          <p:spPr>
            <a:xfrm flipH="false" flipV="false" rot="0">
              <a:off x="0" y="0"/>
              <a:ext cx="9917782" cy="6008938"/>
            </a:xfrm>
            <a:custGeom>
              <a:avLst/>
              <a:gdLst/>
              <a:ahLst/>
              <a:cxnLst/>
              <a:rect r="r" b="b" t="t" l="l"/>
              <a:pathLst>
                <a:path h="6008938" w="9917782">
                  <a:moveTo>
                    <a:pt x="0" y="0"/>
                  </a:moveTo>
                  <a:lnTo>
                    <a:pt x="9917782" y="0"/>
                  </a:lnTo>
                  <a:lnTo>
                    <a:pt x="9917782" y="6008938"/>
                  </a:lnTo>
                  <a:lnTo>
                    <a:pt x="0" y="6008938"/>
                  </a:lnTo>
                  <a:lnTo>
                    <a:pt x="0" y="0"/>
                  </a:lnTo>
                  <a:close/>
                </a:path>
              </a:pathLst>
            </a:custGeom>
            <a:blipFill>
              <a:blip r:embed="rId5"/>
              <a:stretch>
                <a:fillRect l="0" t="0" r="0" b="0"/>
              </a:stretch>
            </a:blipFill>
          </p:spPr>
        </p:sp>
      </p:grpSp>
      <p:sp>
        <p:nvSpPr>
          <p:cNvPr name="Freeform 6" id="6"/>
          <p:cNvSpPr/>
          <p:nvPr/>
        </p:nvSpPr>
        <p:spPr>
          <a:xfrm flipH="true" flipV="false" rot="0">
            <a:off x="-279065" y="6023887"/>
            <a:ext cx="4402635" cy="4402635"/>
          </a:xfrm>
          <a:custGeom>
            <a:avLst/>
            <a:gdLst/>
            <a:ahLst/>
            <a:cxnLst/>
            <a:rect r="r" b="b" t="t" l="l"/>
            <a:pathLst>
              <a:path h="4402635" w="4402635">
                <a:moveTo>
                  <a:pt x="4402635" y="0"/>
                </a:moveTo>
                <a:lnTo>
                  <a:pt x="0" y="0"/>
                </a:lnTo>
                <a:lnTo>
                  <a:pt x="0" y="4402635"/>
                </a:lnTo>
                <a:lnTo>
                  <a:pt x="4402635" y="4402635"/>
                </a:lnTo>
                <a:lnTo>
                  <a:pt x="44026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108565" y="5438185"/>
            <a:ext cx="16070870" cy="2175645"/>
            <a:chOff x="0" y="0"/>
            <a:chExt cx="21427827" cy="2900860"/>
          </a:xfrm>
        </p:grpSpPr>
        <p:sp>
          <p:nvSpPr>
            <p:cNvPr name="Freeform 8" id="8"/>
            <p:cNvSpPr/>
            <p:nvPr/>
          </p:nvSpPr>
          <p:spPr>
            <a:xfrm flipH="false" flipV="false" rot="0">
              <a:off x="10452598" y="0"/>
              <a:ext cx="10975229" cy="2900860"/>
            </a:xfrm>
            <a:custGeom>
              <a:avLst/>
              <a:gdLst/>
              <a:ahLst/>
              <a:cxnLst/>
              <a:rect r="r" b="b" t="t" l="l"/>
              <a:pathLst>
                <a:path h="2900860" w="10975229">
                  <a:moveTo>
                    <a:pt x="0" y="0"/>
                  </a:moveTo>
                  <a:lnTo>
                    <a:pt x="10975229" y="0"/>
                  </a:lnTo>
                  <a:lnTo>
                    <a:pt x="10975229" y="2900860"/>
                  </a:lnTo>
                  <a:lnTo>
                    <a:pt x="0" y="2900860"/>
                  </a:lnTo>
                  <a:lnTo>
                    <a:pt x="0" y="0"/>
                  </a:lnTo>
                  <a:close/>
                </a:path>
              </a:pathLst>
            </a:custGeom>
            <a:blipFill>
              <a:blip r:embed="rId6"/>
              <a:stretch>
                <a:fillRect l="0" t="0" r="0" b="0"/>
              </a:stretch>
            </a:blipFill>
          </p:spPr>
        </p:sp>
        <p:sp>
          <p:nvSpPr>
            <p:cNvPr name="Freeform 9" id="9"/>
            <p:cNvSpPr/>
            <p:nvPr/>
          </p:nvSpPr>
          <p:spPr>
            <a:xfrm flipH="false" flipV="false" rot="0">
              <a:off x="0" y="0"/>
              <a:ext cx="10059764" cy="1882785"/>
            </a:xfrm>
            <a:custGeom>
              <a:avLst/>
              <a:gdLst/>
              <a:ahLst/>
              <a:cxnLst/>
              <a:rect r="r" b="b" t="t" l="l"/>
              <a:pathLst>
                <a:path h="1882785" w="10059764">
                  <a:moveTo>
                    <a:pt x="0" y="0"/>
                  </a:moveTo>
                  <a:lnTo>
                    <a:pt x="10059764" y="0"/>
                  </a:lnTo>
                  <a:lnTo>
                    <a:pt x="10059764" y="1882785"/>
                  </a:lnTo>
                  <a:lnTo>
                    <a:pt x="0" y="1882785"/>
                  </a:lnTo>
                  <a:lnTo>
                    <a:pt x="0" y="0"/>
                  </a:lnTo>
                  <a:close/>
                </a:path>
              </a:pathLst>
            </a:custGeom>
            <a:blipFill>
              <a:blip r:embed="rId7"/>
              <a:stretch>
                <a:fillRect l="0" t="0" r="0" b="0"/>
              </a:stretch>
            </a:blipFill>
          </p:spPr>
        </p:sp>
      </p:grpSp>
      <p:sp>
        <p:nvSpPr>
          <p:cNvPr name="TextBox 10" id="10"/>
          <p:cNvSpPr txBox="true"/>
          <p:nvPr/>
        </p:nvSpPr>
        <p:spPr>
          <a:xfrm rot="0">
            <a:off x="2318964" y="8019271"/>
            <a:ext cx="13650071" cy="855345"/>
          </a:xfrm>
          <a:prstGeom prst="rect">
            <a:avLst/>
          </a:prstGeom>
        </p:spPr>
        <p:txBody>
          <a:bodyPr anchor="t" rtlCol="false" tIns="0" lIns="0" bIns="0" rIns="0">
            <a:spAutoFit/>
          </a:bodyPr>
          <a:lstStyle/>
          <a:p>
            <a:pPr algn="ctr">
              <a:lnSpc>
                <a:spcPts val="6540"/>
              </a:lnSpc>
            </a:pPr>
            <a:r>
              <a:rPr lang="en-US" b="true" sz="6000" spc="96">
                <a:solidFill>
                  <a:srgbClr val="000000"/>
                </a:solidFill>
                <a:latin typeface="Fira Sans Bold"/>
                <a:ea typeface="Fira Sans Bold"/>
                <a:cs typeface="Fira Sans Bold"/>
                <a:sym typeface="Fira Sans Bold"/>
              </a:rPr>
              <a:t>PHÂN TÍCH XU HƯỚNG</a:t>
            </a:r>
          </a:p>
        </p:txBody>
      </p:sp>
      <p:sp>
        <p:nvSpPr>
          <p:cNvPr name="TextBox 11" id="11"/>
          <p:cNvSpPr txBox="true"/>
          <p:nvPr/>
        </p:nvSpPr>
        <p:spPr>
          <a:xfrm rot="0">
            <a:off x="2716908" y="8912716"/>
            <a:ext cx="12854185" cy="1223311"/>
          </a:xfrm>
          <a:prstGeom prst="rect">
            <a:avLst/>
          </a:prstGeom>
        </p:spPr>
        <p:txBody>
          <a:bodyPr anchor="t" rtlCol="false" tIns="0" lIns="0" bIns="0" rIns="0">
            <a:spAutoFit/>
          </a:bodyPr>
          <a:lstStyle/>
          <a:p>
            <a:pPr algn="ctr">
              <a:lnSpc>
                <a:spcPts val="4779"/>
              </a:lnSpc>
            </a:pPr>
            <a:r>
              <a:rPr lang="en-US" sz="4385" spc="70">
                <a:solidFill>
                  <a:srgbClr val="000000"/>
                </a:solidFill>
                <a:latin typeface="Fira Sans"/>
                <a:ea typeface="Fira Sans"/>
                <a:cs typeface="Fira Sans"/>
                <a:sym typeface="Fira Sans"/>
              </a:rPr>
              <a:t>Biểu đồ tổng doanh thu theo danh mục và phương thức thanh toán ưa chuộng</a:t>
            </a:r>
          </a:p>
        </p:txBody>
      </p:sp>
      <p:sp>
        <p:nvSpPr>
          <p:cNvPr name="Freeform 12" id="12"/>
          <p:cNvSpPr/>
          <p:nvPr/>
        </p:nvSpPr>
        <p:spPr>
          <a:xfrm flipH="false" flipV="false" rot="1204850">
            <a:off x="-559384" y="5590538"/>
            <a:ext cx="1118768" cy="1306417"/>
          </a:xfrm>
          <a:custGeom>
            <a:avLst/>
            <a:gdLst/>
            <a:ahLst/>
            <a:cxnLst/>
            <a:rect r="r" b="b" t="t" l="l"/>
            <a:pathLst>
              <a:path h="1306417" w="1118768">
                <a:moveTo>
                  <a:pt x="0" y="0"/>
                </a:moveTo>
                <a:lnTo>
                  <a:pt x="1118768" y="0"/>
                </a:lnTo>
                <a:lnTo>
                  <a:pt x="1118768" y="1306418"/>
                </a:lnTo>
                <a:lnTo>
                  <a:pt x="0" y="13064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true" flipV="false" rot="-1892771">
            <a:off x="16699916" y="5023461"/>
            <a:ext cx="1118768" cy="1306417"/>
          </a:xfrm>
          <a:custGeom>
            <a:avLst/>
            <a:gdLst/>
            <a:ahLst/>
            <a:cxnLst/>
            <a:rect r="r" b="b" t="t" l="l"/>
            <a:pathLst>
              <a:path h="1306417" w="1118768">
                <a:moveTo>
                  <a:pt x="1118768" y="0"/>
                </a:moveTo>
                <a:lnTo>
                  <a:pt x="0" y="0"/>
                </a:lnTo>
                <a:lnTo>
                  <a:pt x="0" y="1306417"/>
                </a:lnTo>
                <a:lnTo>
                  <a:pt x="1118768" y="1306417"/>
                </a:lnTo>
                <a:lnTo>
                  <a:pt x="1118768"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8132519" y="131056"/>
            <a:ext cx="1011481" cy="101148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16" id="16"/>
            <p:cNvSpPr txBox="true"/>
            <p:nvPr/>
          </p:nvSpPr>
          <p:spPr>
            <a:xfrm>
              <a:off x="76200" y="133350"/>
              <a:ext cx="660400" cy="603250"/>
            </a:xfrm>
            <a:prstGeom prst="rect">
              <a:avLst/>
            </a:prstGeom>
          </p:spPr>
          <p:txBody>
            <a:bodyPr anchor="ctr" rtlCol="false" tIns="50800" lIns="50800" bIns="50800" rIns="50800"/>
            <a:lstStyle/>
            <a:p>
              <a:pPr algn="ctr">
                <a:lnSpc>
                  <a:spcPts val="1468"/>
                </a:lnSpc>
              </a:pPr>
            </a:p>
          </p:txBody>
        </p:sp>
      </p:grpSp>
      <p:grpSp>
        <p:nvGrpSpPr>
          <p:cNvPr name="Group 17" id="17"/>
          <p:cNvGrpSpPr/>
          <p:nvPr/>
        </p:nvGrpSpPr>
        <p:grpSpPr>
          <a:xfrm rot="0">
            <a:off x="16728144" y="8655983"/>
            <a:ext cx="849339" cy="84933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19" id="19"/>
            <p:cNvSpPr txBox="true"/>
            <p:nvPr/>
          </p:nvSpPr>
          <p:spPr>
            <a:xfrm>
              <a:off x="76200" y="133350"/>
              <a:ext cx="660400" cy="603250"/>
            </a:xfrm>
            <a:prstGeom prst="rect">
              <a:avLst/>
            </a:prstGeom>
          </p:spPr>
          <p:txBody>
            <a:bodyPr anchor="ctr" rtlCol="false" tIns="50800" lIns="50800" bIns="50800" rIns="50800"/>
            <a:lstStyle/>
            <a:p>
              <a:pPr algn="ctr">
                <a:lnSpc>
                  <a:spcPts val="1468"/>
                </a:lnSpc>
              </a:pPr>
            </a:p>
          </p:txBody>
        </p:sp>
      </p:grpSp>
    </p:spTree>
  </p:cSld>
  <p:clrMapOvr>
    <a:masterClrMapping/>
  </p:clrMapOvr>
  <p:transition spd="slow">
    <p:push dir="d"/>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31000"/>
              </a:srgbClr>
            </a:gs>
            <a:gs pos="100000">
              <a:srgbClr val="D187D0">
                <a:alpha val="34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6307" y="233915"/>
            <a:ext cx="7052378" cy="1589571"/>
          </a:xfrm>
          <a:custGeom>
            <a:avLst/>
            <a:gdLst/>
            <a:ahLst/>
            <a:cxnLst/>
            <a:rect r="r" b="b" t="t" l="l"/>
            <a:pathLst>
              <a:path h="1589571" w="7052378">
                <a:moveTo>
                  <a:pt x="0" y="0"/>
                </a:moveTo>
                <a:lnTo>
                  <a:pt x="7052378" y="0"/>
                </a:lnTo>
                <a:lnTo>
                  <a:pt x="7052378" y="1589570"/>
                </a:lnTo>
                <a:lnTo>
                  <a:pt x="0" y="1589570"/>
                </a:lnTo>
                <a:lnTo>
                  <a:pt x="0" y="0"/>
                </a:lnTo>
                <a:close/>
              </a:path>
            </a:pathLst>
          </a:custGeom>
          <a:blipFill>
            <a:blip r:embed="rId2"/>
            <a:stretch>
              <a:fillRect l="0" t="0" r="0" b="-59680"/>
            </a:stretch>
          </a:blipFill>
        </p:spPr>
      </p:sp>
      <p:sp>
        <p:nvSpPr>
          <p:cNvPr name="Freeform 3" id="3"/>
          <p:cNvSpPr/>
          <p:nvPr/>
        </p:nvSpPr>
        <p:spPr>
          <a:xfrm flipH="false" flipV="false" rot="0">
            <a:off x="1957812" y="1823485"/>
            <a:ext cx="5189369" cy="3164729"/>
          </a:xfrm>
          <a:custGeom>
            <a:avLst/>
            <a:gdLst/>
            <a:ahLst/>
            <a:cxnLst/>
            <a:rect r="r" b="b" t="t" l="l"/>
            <a:pathLst>
              <a:path h="3164729" w="5189369">
                <a:moveTo>
                  <a:pt x="0" y="0"/>
                </a:moveTo>
                <a:lnTo>
                  <a:pt x="5189369" y="0"/>
                </a:lnTo>
                <a:lnTo>
                  <a:pt x="5189369" y="3164729"/>
                </a:lnTo>
                <a:lnTo>
                  <a:pt x="0" y="3164729"/>
                </a:lnTo>
                <a:lnTo>
                  <a:pt x="0" y="0"/>
                </a:lnTo>
                <a:close/>
              </a:path>
            </a:pathLst>
          </a:custGeom>
          <a:blipFill>
            <a:blip r:embed="rId3"/>
            <a:stretch>
              <a:fillRect l="0" t="0" r="0" b="0"/>
            </a:stretch>
          </a:blipFill>
        </p:spPr>
      </p:sp>
      <p:sp>
        <p:nvSpPr>
          <p:cNvPr name="Freeform 4" id="4"/>
          <p:cNvSpPr/>
          <p:nvPr/>
        </p:nvSpPr>
        <p:spPr>
          <a:xfrm flipH="false" flipV="false" rot="0">
            <a:off x="8966886" y="3489415"/>
            <a:ext cx="8771367" cy="1589571"/>
          </a:xfrm>
          <a:custGeom>
            <a:avLst/>
            <a:gdLst/>
            <a:ahLst/>
            <a:cxnLst/>
            <a:rect r="r" b="b" t="t" l="l"/>
            <a:pathLst>
              <a:path h="1589571" w="8771367">
                <a:moveTo>
                  <a:pt x="0" y="0"/>
                </a:moveTo>
                <a:lnTo>
                  <a:pt x="8771367" y="0"/>
                </a:lnTo>
                <a:lnTo>
                  <a:pt x="8771367" y="1589570"/>
                </a:lnTo>
                <a:lnTo>
                  <a:pt x="0" y="1589570"/>
                </a:lnTo>
                <a:lnTo>
                  <a:pt x="0" y="0"/>
                </a:lnTo>
                <a:close/>
              </a:path>
            </a:pathLst>
          </a:custGeom>
          <a:blipFill>
            <a:blip r:embed="rId4"/>
            <a:stretch>
              <a:fillRect l="0" t="0" r="0" b="0"/>
            </a:stretch>
          </a:blipFill>
        </p:spPr>
      </p:sp>
      <p:sp>
        <p:nvSpPr>
          <p:cNvPr name="Freeform 5" id="5"/>
          <p:cNvSpPr/>
          <p:nvPr/>
        </p:nvSpPr>
        <p:spPr>
          <a:xfrm flipH="false" flipV="false" rot="0">
            <a:off x="10915595" y="260171"/>
            <a:ext cx="4873950" cy="3164729"/>
          </a:xfrm>
          <a:custGeom>
            <a:avLst/>
            <a:gdLst/>
            <a:ahLst/>
            <a:cxnLst/>
            <a:rect r="r" b="b" t="t" l="l"/>
            <a:pathLst>
              <a:path h="3164729" w="4873950">
                <a:moveTo>
                  <a:pt x="0" y="0"/>
                </a:moveTo>
                <a:lnTo>
                  <a:pt x="4873950" y="0"/>
                </a:lnTo>
                <a:lnTo>
                  <a:pt x="4873950" y="3164729"/>
                </a:lnTo>
                <a:lnTo>
                  <a:pt x="0" y="3164729"/>
                </a:lnTo>
                <a:lnTo>
                  <a:pt x="0" y="0"/>
                </a:lnTo>
                <a:close/>
              </a:path>
            </a:pathLst>
          </a:custGeom>
          <a:blipFill>
            <a:blip r:embed="rId5"/>
            <a:stretch>
              <a:fillRect l="0" t="0" r="0" b="0"/>
            </a:stretch>
          </a:blipFill>
        </p:spPr>
      </p:sp>
      <p:sp>
        <p:nvSpPr>
          <p:cNvPr name="Freeform 6" id="6"/>
          <p:cNvSpPr/>
          <p:nvPr/>
        </p:nvSpPr>
        <p:spPr>
          <a:xfrm flipH="false" flipV="false" rot="0">
            <a:off x="778833" y="5296173"/>
            <a:ext cx="9410335" cy="1250833"/>
          </a:xfrm>
          <a:custGeom>
            <a:avLst/>
            <a:gdLst/>
            <a:ahLst/>
            <a:cxnLst/>
            <a:rect r="r" b="b" t="t" l="l"/>
            <a:pathLst>
              <a:path h="1250833" w="9410335">
                <a:moveTo>
                  <a:pt x="0" y="0"/>
                </a:moveTo>
                <a:lnTo>
                  <a:pt x="9410335" y="0"/>
                </a:lnTo>
                <a:lnTo>
                  <a:pt x="9410335" y="1250832"/>
                </a:lnTo>
                <a:lnTo>
                  <a:pt x="0" y="1250832"/>
                </a:lnTo>
                <a:lnTo>
                  <a:pt x="0" y="0"/>
                </a:lnTo>
                <a:close/>
              </a:path>
            </a:pathLst>
          </a:custGeom>
          <a:blipFill>
            <a:blip r:embed="rId6"/>
            <a:stretch>
              <a:fillRect l="0" t="0" r="0" b="0"/>
            </a:stretch>
          </a:blipFill>
          <a:ln cap="sq">
            <a:noFill/>
            <a:prstDash val="solid"/>
            <a:miter/>
          </a:ln>
        </p:spPr>
      </p:sp>
      <p:sp>
        <p:nvSpPr>
          <p:cNvPr name="Freeform 7" id="7"/>
          <p:cNvSpPr/>
          <p:nvPr/>
        </p:nvSpPr>
        <p:spPr>
          <a:xfrm flipH="false" flipV="false" rot="0">
            <a:off x="2889316" y="6764193"/>
            <a:ext cx="5189369" cy="3125721"/>
          </a:xfrm>
          <a:custGeom>
            <a:avLst/>
            <a:gdLst/>
            <a:ahLst/>
            <a:cxnLst/>
            <a:rect r="r" b="b" t="t" l="l"/>
            <a:pathLst>
              <a:path h="3125721" w="5189369">
                <a:moveTo>
                  <a:pt x="0" y="0"/>
                </a:moveTo>
                <a:lnTo>
                  <a:pt x="5189369" y="0"/>
                </a:lnTo>
                <a:lnTo>
                  <a:pt x="5189369" y="3125721"/>
                </a:lnTo>
                <a:lnTo>
                  <a:pt x="0" y="3125721"/>
                </a:lnTo>
                <a:lnTo>
                  <a:pt x="0" y="0"/>
                </a:lnTo>
                <a:close/>
              </a:path>
            </a:pathLst>
          </a:custGeom>
          <a:blipFill>
            <a:blip r:embed="rId7"/>
            <a:stretch>
              <a:fillRect l="0" t="0" r="0" b="0"/>
            </a:stretch>
          </a:blipFill>
        </p:spPr>
      </p:sp>
      <p:sp>
        <p:nvSpPr>
          <p:cNvPr name="Freeform 8" id="8"/>
          <p:cNvSpPr/>
          <p:nvPr/>
        </p:nvSpPr>
        <p:spPr>
          <a:xfrm flipH="false" flipV="false" rot="0">
            <a:off x="11394918" y="5269945"/>
            <a:ext cx="5350510" cy="3183553"/>
          </a:xfrm>
          <a:custGeom>
            <a:avLst/>
            <a:gdLst/>
            <a:ahLst/>
            <a:cxnLst/>
            <a:rect r="r" b="b" t="t" l="l"/>
            <a:pathLst>
              <a:path h="3183553" w="5350510">
                <a:moveTo>
                  <a:pt x="0" y="0"/>
                </a:moveTo>
                <a:lnTo>
                  <a:pt x="5350509" y="0"/>
                </a:lnTo>
                <a:lnTo>
                  <a:pt x="5350509" y="3183553"/>
                </a:lnTo>
                <a:lnTo>
                  <a:pt x="0" y="3183553"/>
                </a:lnTo>
                <a:lnTo>
                  <a:pt x="0" y="0"/>
                </a:lnTo>
                <a:close/>
              </a:path>
            </a:pathLst>
          </a:custGeom>
          <a:blipFill>
            <a:blip r:embed="rId8"/>
            <a:stretch>
              <a:fillRect l="0" t="0" r="0" b="0"/>
            </a:stretch>
          </a:blipFill>
        </p:spPr>
      </p:sp>
      <p:sp>
        <p:nvSpPr>
          <p:cNvPr name="Freeform 9" id="9"/>
          <p:cNvSpPr/>
          <p:nvPr/>
        </p:nvSpPr>
        <p:spPr>
          <a:xfrm flipH="false" flipV="false" rot="0">
            <a:off x="9888104" y="8644458"/>
            <a:ext cx="7850149" cy="1245456"/>
          </a:xfrm>
          <a:custGeom>
            <a:avLst/>
            <a:gdLst/>
            <a:ahLst/>
            <a:cxnLst/>
            <a:rect r="r" b="b" t="t" l="l"/>
            <a:pathLst>
              <a:path h="1245456" w="7850149">
                <a:moveTo>
                  <a:pt x="0" y="0"/>
                </a:moveTo>
                <a:lnTo>
                  <a:pt x="7850149" y="0"/>
                </a:lnTo>
                <a:lnTo>
                  <a:pt x="7850149" y="1245456"/>
                </a:lnTo>
                <a:lnTo>
                  <a:pt x="0" y="1245456"/>
                </a:lnTo>
                <a:lnTo>
                  <a:pt x="0" y="0"/>
                </a:lnTo>
                <a:close/>
              </a:path>
            </a:pathLst>
          </a:custGeom>
          <a:blipFill>
            <a:blip r:embed="rId9"/>
            <a:stretch>
              <a:fillRect l="0" t="0" r="0" b="0"/>
            </a:stretch>
          </a:blipFill>
        </p:spPr>
      </p:sp>
      <p:sp>
        <p:nvSpPr>
          <p:cNvPr name="Freeform 10" id="10"/>
          <p:cNvSpPr/>
          <p:nvPr/>
        </p:nvSpPr>
        <p:spPr>
          <a:xfrm flipH="false" flipV="false" rot="0">
            <a:off x="-1763221" y="2168239"/>
            <a:ext cx="3299321" cy="4114800"/>
          </a:xfrm>
          <a:custGeom>
            <a:avLst/>
            <a:gdLst/>
            <a:ahLst/>
            <a:cxnLst/>
            <a:rect r="r" b="b" t="t" l="l"/>
            <a:pathLst>
              <a:path h="4114800" w="3299321">
                <a:moveTo>
                  <a:pt x="0" y="0"/>
                </a:moveTo>
                <a:lnTo>
                  <a:pt x="3299321" y="0"/>
                </a:lnTo>
                <a:lnTo>
                  <a:pt x="329932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16536128" y="5337019"/>
            <a:ext cx="3049405" cy="3049405"/>
          </a:xfrm>
          <a:custGeom>
            <a:avLst/>
            <a:gdLst/>
            <a:ahLst/>
            <a:cxnLst/>
            <a:rect r="r" b="b" t="t" l="l"/>
            <a:pathLst>
              <a:path h="3049405" w="3049405">
                <a:moveTo>
                  <a:pt x="3049405" y="0"/>
                </a:moveTo>
                <a:lnTo>
                  <a:pt x="0" y="0"/>
                </a:lnTo>
                <a:lnTo>
                  <a:pt x="0" y="3049405"/>
                </a:lnTo>
                <a:lnTo>
                  <a:pt x="3049405" y="3049405"/>
                </a:lnTo>
                <a:lnTo>
                  <a:pt x="304940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2" id="12"/>
          <p:cNvGrpSpPr/>
          <p:nvPr/>
        </p:nvGrpSpPr>
        <p:grpSpPr>
          <a:xfrm rot="0">
            <a:off x="16001805" y="930040"/>
            <a:ext cx="2059026" cy="1824990"/>
            <a:chOff x="0" y="0"/>
            <a:chExt cx="2745368" cy="2433320"/>
          </a:xfrm>
        </p:grpSpPr>
        <p:sp>
          <p:nvSpPr>
            <p:cNvPr name="TextBox 13" id="13"/>
            <p:cNvSpPr txBox="true"/>
            <p:nvPr/>
          </p:nvSpPr>
          <p:spPr>
            <a:xfrm rot="0">
              <a:off x="0" y="57150"/>
              <a:ext cx="2745368" cy="1159510"/>
            </a:xfrm>
            <a:prstGeom prst="rect">
              <a:avLst/>
            </a:prstGeom>
          </p:spPr>
          <p:txBody>
            <a:bodyPr anchor="t" rtlCol="false" tIns="0" lIns="0" bIns="0" rIns="0">
              <a:spAutoFit/>
            </a:bodyPr>
            <a:lstStyle/>
            <a:p>
              <a:pPr algn="ctr">
                <a:lnSpc>
                  <a:spcPts val="6540"/>
                </a:lnSpc>
              </a:pPr>
              <a:r>
                <a:rPr lang="en-US" b="true" sz="6000" spc="96">
                  <a:solidFill>
                    <a:srgbClr val="000000"/>
                  </a:solidFill>
                  <a:latin typeface="Fira Sans Bold"/>
                  <a:ea typeface="Fira Sans Bold"/>
                  <a:cs typeface="Fira Sans Bold"/>
                  <a:sym typeface="Fira Sans Bold"/>
                </a:rPr>
                <a:t>PHÂN </a:t>
              </a:r>
            </a:p>
          </p:txBody>
        </p:sp>
        <p:sp>
          <p:nvSpPr>
            <p:cNvPr name="TextBox 14" id="14"/>
            <p:cNvSpPr txBox="true"/>
            <p:nvPr/>
          </p:nvSpPr>
          <p:spPr>
            <a:xfrm rot="0">
              <a:off x="93550" y="1273810"/>
              <a:ext cx="2558268" cy="1159510"/>
            </a:xfrm>
            <a:prstGeom prst="rect">
              <a:avLst/>
            </a:prstGeom>
          </p:spPr>
          <p:txBody>
            <a:bodyPr anchor="t" rtlCol="false" tIns="0" lIns="0" bIns="0" rIns="0">
              <a:spAutoFit/>
            </a:bodyPr>
            <a:lstStyle/>
            <a:p>
              <a:pPr algn="ctr">
                <a:lnSpc>
                  <a:spcPts val="6540"/>
                </a:lnSpc>
              </a:pPr>
              <a:r>
                <a:rPr lang="en-US" b="true" sz="6000" spc="96">
                  <a:solidFill>
                    <a:srgbClr val="000000"/>
                  </a:solidFill>
                  <a:latin typeface="Fira Sans Bold"/>
                  <a:ea typeface="Fira Sans Bold"/>
                  <a:cs typeface="Fira Sans Bold"/>
                  <a:sym typeface="Fira Sans Bold"/>
                </a:rPr>
                <a:t>TÍCH</a:t>
              </a:r>
            </a:p>
          </p:txBody>
        </p:sp>
      </p:grpSp>
      <p:sp>
        <p:nvSpPr>
          <p:cNvPr name="TextBox 15" id="15"/>
          <p:cNvSpPr txBox="true"/>
          <p:nvPr/>
        </p:nvSpPr>
        <p:spPr>
          <a:xfrm rot="0">
            <a:off x="182885" y="6684943"/>
            <a:ext cx="2706431" cy="3341370"/>
          </a:xfrm>
          <a:prstGeom prst="rect">
            <a:avLst/>
          </a:prstGeom>
        </p:spPr>
        <p:txBody>
          <a:bodyPr anchor="t" rtlCol="false" tIns="0" lIns="0" bIns="0" rIns="0">
            <a:spAutoFit/>
          </a:bodyPr>
          <a:lstStyle/>
          <a:p>
            <a:pPr algn="ctr">
              <a:lnSpc>
                <a:spcPts val="6540"/>
              </a:lnSpc>
            </a:pPr>
            <a:r>
              <a:rPr lang="en-US" b="true" sz="6000" spc="96">
                <a:solidFill>
                  <a:srgbClr val="000000"/>
                </a:solidFill>
                <a:latin typeface="Fira Sans Bold"/>
                <a:ea typeface="Fira Sans Bold"/>
                <a:cs typeface="Fira Sans Bold"/>
                <a:sym typeface="Fira Sans Bold"/>
              </a:rPr>
              <a:t>SO</a:t>
            </a:r>
          </a:p>
          <a:p>
            <a:pPr algn="ctr">
              <a:lnSpc>
                <a:spcPts val="6540"/>
              </a:lnSpc>
            </a:pPr>
            <a:r>
              <a:rPr lang="en-US" b="true" sz="6000" spc="96">
                <a:solidFill>
                  <a:srgbClr val="000000"/>
                </a:solidFill>
                <a:latin typeface="Fira Sans Bold"/>
                <a:ea typeface="Fira Sans Bold"/>
                <a:cs typeface="Fira Sans Bold"/>
                <a:sym typeface="Fira Sans Bold"/>
              </a:rPr>
              <a:t>SÁNH</a:t>
            </a:r>
          </a:p>
          <a:p>
            <a:pPr algn="ctr">
              <a:lnSpc>
                <a:spcPts val="6540"/>
              </a:lnSpc>
            </a:pPr>
            <a:r>
              <a:rPr lang="en-US" b="true" sz="6000" spc="96">
                <a:solidFill>
                  <a:srgbClr val="000000"/>
                </a:solidFill>
                <a:latin typeface="Fira Sans Bold"/>
                <a:ea typeface="Fira Sans Bold"/>
                <a:cs typeface="Fira Sans Bold"/>
                <a:sym typeface="Fira Sans Bold"/>
              </a:rPr>
              <a:t>TƯƠNG QUAN</a:t>
            </a:r>
          </a:p>
        </p:txBody>
      </p:sp>
      <p:sp>
        <p:nvSpPr>
          <p:cNvPr name="Freeform 16" id="16"/>
          <p:cNvSpPr/>
          <p:nvPr/>
        </p:nvSpPr>
        <p:spPr>
          <a:xfrm flipH="false" flipV="false" rot="1204850">
            <a:off x="8475362" y="1515031"/>
            <a:ext cx="1118768" cy="1306417"/>
          </a:xfrm>
          <a:custGeom>
            <a:avLst/>
            <a:gdLst/>
            <a:ahLst/>
            <a:cxnLst/>
            <a:rect r="r" b="b" t="t" l="l"/>
            <a:pathLst>
              <a:path h="1306417" w="1118768">
                <a:moveTo>
                  <a:pt x="0" y="0"/>
                </a:moveTo>
                <a:lnTo>
                  <a:pt x="1118768" y="0"/>
                </a:lnTo>
                <a:lnTo>
                  <a:pt x="1118768" y="1306417"/>
                </a:lnTo>
                <a:lnTo>
                  <a:pt x="0" y="13064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true" flipV="false" rot="-1892771">
            <a:off x="9293829" y="6942523"/>
            <a:ext cx="1118768" cy="1306417"/>
          </a:xfrm>
          <a:custGeom>
            <a:avLst/>
            <a:gdLst/>
            <a:ahLst/>
            <a:cxnLst/>
            <a:rect r="r" b="b" t="t" l="l"/>
            <a:pathLst>
              <a:path h="1306417" w="1118768">
                <a:moveTo>
                  <a:pt x="1118768" y="0"/>
                </a:moveTo>
                <a:lnTo>
                  <a:pt x="0" y="0"/>
                </a:lnTo>
                <a:lnTo>
                  <a:pt x="0" y="1306417"/>
                </a:lnTo>
                <a:lnTo>
                  <a:pt x="1118768" y="1306417"/>
                </a:lnTo>
                <a:lnTo>
                  <a:pt x="1118768"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31000"/>
              </a:srgbClr>
            </a:gs>
            <a:gs pos="100000">
              <a:srgbClr val="FF8266">
                <a:alpha val="34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972716" y="487837"/>
            <a:ext cx="2053742" cy="354893"/>
            <a:chOff x="0" y="0"/>
            <a:chExt cx="1015246" cy="175438"/>
          </a:xfrm>
        </p:grpSpPr>
        <p:sp>
          <p:nvSpPr>
            <p:cNvPr name="Freeform 3" id="3"/>
            <p:cNvSpPr/>
            <p:nvPr/>
          </p:nvSpPr>
          <p:spPr>
            <a:xfrm flipH="false" flipV="false" rot="0">
              <a:off x="0" y="0"/>
              <a:ext cx="1015246" cy="175438"/>
            </a:xfrm>
            <a:custGeom>
              <a:avLst/>
              <a:gdLst/>
              <a:ahLst/>
              <a:cxnLst/>
              <a:rect r="r" b="b" t="t" l="l"/>
              <a:pathLst>
                <a:path h="175438" w="1015246">
                  <a:moveTo>
                    <a:pt x="41466" y="0"/>
                  </a:moveTo>
                  <a:lnTo>
                    <a:pt x="973780" y="0"/>
                  </a:lnTo>
                  <a:cubicBezTo>
                    <a:pt x="984778" y="0"/>
                    <a:pt x="995325" y="4369"/>
                    <a:pt x="1003101" y="12145"/>
                  </a:cubicBezTo>
                  <a:cubicBezTo>
                    <a:pt x="1010878" y="19922"/>
                    <a:pt x="1015246" y="30469"/>
                    <a:pt x="1015246" y="41466"/>
                  </a:cubicBezTo>
                  <a:lnTo>
                    <a:pt x="1015246" y="133971"/>
                  </a:lnTo>
                  <a:cubicBezTo>
                    <a:pt x="1015246" y="156873"/>
                    <a:pt x="996681" y="175438"/>
                    <a:pt x="973780" y="175438"/>
                  </a:cubicBezTo>
                  <a:lnTo>
                    <a:pt x="41466" y="175438"/>
                  </a:lnTo>
                  <a:cubicBezTo>
                    <a:pt x="30469" y="175438"/>
                    <a:pt x="19922" y="171069"/>
                    <a:pt x="12145" y="163293"/>
                  </a:cubicBezTo>
                  <a:cubicBezTo>
                    <a:pt x="4369" y="155516"/>
                    <a:pt x="0" y="144969"/>
                    <a:pt x="0" y="133971"/>
                  </a:cubicBezTo>
                  <a:lnTo>
                    <a:pt x="0" y="41466"/>
                  </a:lnTo>
                  <a:cubicBezTo>
                    <a:pt x="0" y="30469"/>
                    <a:pt x="4369" y="19922"/>
                    <a:pt x="12145" y="12145"/>
                  </a:cubicBezTo>
                  <a:cubicBezTo>
                    <a:pt x="19922" y="4369"/>
                    <a:pt x="30469" y="0"/>
                    <a:pt x="41466" y="0"/>
                  </a:cubicBezTo>
                  <a:close/>
                </a:path>
              </a:pathLst>
            </a:custGeom>
            <a:solidFill>
              <a:srgbClr val="FFFFFF">
                <a:alpha val="37647"/>
              </a:srgbClr>
            </a:solidFill>
          </p:spPr>
        </p:sp>
        <p:sp>
          <p:nvSpPr>
            <p:cNvPr name="TextBox 4" id="4"/>
            <p:cNvSpPr txBox="true"/>
            <p:nvPr/>
          </p:nvSpPr>
          <p:spPr>
            <a:xfrm>
              <a:off x="0" y="-38100"/>
              <a:ext cx="1015246" cy="21353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544459" y="487837"/>
            <a:ext cx="481998" cy="354893"/>
            <a:chOff x="0" y="0"/>
            <a:chExt cx="238271" cy="175438"/>
          </a:xfrm>
        </p:grpSpPr>
        <p:sp>
          <p:nvSpPr>
            <p:cNvPr name="Freeform 6" id="6"/>
            <p:cNvSpPr/>
            <p:nvPr/>
          </p:nvSpPr>
          <p:spPr>
            <a:xfrm flipH="false" flipV="false" rot="0">
              <a:off x="0" y="0"/>
              <a:ext cx="238271" cy="175438"/>
            </a:xfrm>
            <a:custGeom>
              <a:avLst/>
              <a:gdLst/>
              <a:ahLst/>
              <a:cxnLst/>
              <a:rect r="r" b="b" t="t" l="l"/>
              <a:pathLst>
                <a:path h="175438" w="238271">
                  <a:moveTo>
                    <a:pt x="87719" y="0"/>
                  </a:moveTo>
                  <a:lnTo>
                    <a:pt x="150552" y="0"/>
                  </a:lnTo>
                  <a:cubicBezTo>
                    <a:pt x="198998" y="0"/>
                    <a:pt x="238271" y="39273"/>
                    <a:pt x="238271" y="87719"/>
                  </a:cubicBezTo>
                  <a:lnTo>
                    <a:pt x="238271" y="87719"/>
                  </a:lnTo>
                  <a:cubicBezTo>
                    <a:pt x="238271" y="136165"/>
                    <a:pt x="198998" y="175438"/>
                    <a:pt x="150552" y="175438"/>
                  </a:cubicBezTo>
                  <a:lnTo>
                    <a:pt x="87719" y="175438"/>
                  </a:lnTo>
                  <a:cubicBezTo>
                    <a:pt x="39273" y="175438"/>
                    <a:pt x="0" y="136165"/>
                    <a:pt x="0" y="87719"/>
                  </a:cubicBezTo>
                  <a:lnTo>
                    <a:pt x="0" y="87719"/>
                  </a:lnTo>
                  <a:cubicBezTo>
                    <a:pt x="0" y="39273"/>
                    <a:pt x="39273" y="0"/>
                    <a:pt x="87719" y="0"/>
                  </a:cubicBezTo>
                  <a:close/>
                </a:path>
              </a:pathLst>
            </a:custGeom>
            <a:solidFill>
              <a:srgbClr val="FFFFFF">
                <a:alpha val="83922"/>
              </a:srgbClr>
            </a:solidFill>
          </p:spPr>
        </p:sp>
        <p:sp>
          <p:nvSpPr>
            <p:cNvPr name="TextBox 7" id="7"/>
            <p:cNvSpPr txBox="true"/>
            <p:nvPr/>
          </p:nvSpPr>
          <p:spPr>
            <a:xfrm>
              <a:off x="0" y="-38100"/>
              <a:ext cx="238271" cy="21353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6675410" y="619366"/>
            <a:ext cx="220097" cy="91835"/>
          </a:xfrm>
          <a:custGeom>
            <a:avLst/>
            <a:gdLst/>
            <a:ahLst/>
            <a:cxnLst/>
            <a:rect r="r" b="b" t="t" l="l"/>
            <a:pathLst>
              <a:path h="91835" w="220097">
                <a:moveTo>
                  <a:pt x="0" y="0"/>
                </a:moveTo>
                <a:lnTo>
                  <a:pt x="220097" y="0"/>
                </a:lnTo>
                <a:lnTo>
                  <a:pt x="220097" y="91834"/>
                </a:lnTo>
                <a:lnTo>
                  <a:pt x="0" y="918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4972716" y="591810"/>
            <a:ext cx="1571743" cy="165735"/>
          </a:xfrm>
          <a:prstGeom prst="rect">
            <a:avLst/>
          </a:prstGeom>
        </p:spPr>
        <p:txBody>
          <a:bodyPr anchor="t" rtlCol="false" tIns="0" lIns="0" bIns="0" rIns="0">
            <a:spAutoFit/>
          </a:bodyPr>
          <a:lstStyle/>
          <a:p>
            <a:pPr algn="ctr">
              <a:lnSpc>
                <a:spcPts val="1305"/>
              </a:lnSpc>
            </a:pPr>
            <a:r>
              <a:rPr lang="en-US" sz="1220" spc="244">
                <a:solidFill>
                  <a:srgbClr val="000000"/>
                </a:solidFill>
                <a:latin typeface="Open Sans"/>
                <a:ea typeface="Open Sans"/>
                <a:cs typeface="Open Sans"/>
                <a:sym typeface="Open Sans"/>
              </a:rPr>
              <a:t>NEXT SLIDE</a:t>
            </a:r>
          </a:p>
        </p:txBody>
      </p:sp>
      <p:grpSp>
        <p:nvGrpSpPr>
          <p:cNvPr name="Group 10" id="10"/>
          <p:cNvGrpSpPr/>
          <p:nvPr/>
        </p:nvGrpSpPr>
        <p:grpSpPr>
          <a:xfrm rot="0">
            <a:off x="11944529" y="8082885"/>
            <a:ext cx="3420413" cy="342041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 id="12"/>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13" id="13"/>
          <p:cNvGrpSpPr/>
          <p:nvPr/>
        </p:nvGrpSpPr>
        <p:grpSpPr>
          <a:xfrm rot="0">
            <a:off x="17588861" y="1443926"/>
            <a:ext cx="1398278" cy="139827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5" id="15"/>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16" id="16"/>
          <p:cNvGrpSpPr/>
          <p:nvPr/>
        </p:nvGrpSpPr>
        <p:grpSpPr>
          <a:xfrm rot="0">
            <a:off x="14631708" y="8351780"/>
            <a:ext cx="906520" cy="90652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18" id="18"/>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Freeform 19" id="19"/>
          <p:cNvSpPr/>
          <p:nvPr/>
        </p:nvSpPr>
        <p:spPr>
          <a:xfrm flipH="false" flipV="false" rot="0">
            <a:off x="17812462" y="6723214"/>
            <a:ext cx="821321" cy="2168576"/>
          </a:xfrm>
          <a:custGeom>
            <a:avLst/>
            <a:gdLst/>
            <a:ahLst/>
            <a:cxnLst/>
            <a:rect r="r" b="b" t="t" l="l"/>
            <a:pathLst>
              <a:path h="2168576" w="821321">
                <a:moveTo>
                  <a:pt x="0" y="0"/>
                </a:moveTo>
                <a:lnTo>
                  <a:pt x="821321" y="0"/>
                </a:lnTo>
                <a:lnTo>
                  <a:pt x="821321" y="2168576"/>
                </a:lnTo>
                <a:lnTo>
                  <a:pt x="0" y="2168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8305425" y="1702023"/>
            <a:ext cx="9345112" cy="6882955"/>
            <a:chOff x="0" y="0"/>
            <a:chExt cx="12460150" cy="9177273"/>
          </a:xfrm>
        </p:grpSpPr>
        <p:sp>
          <p:nvSpPr>
            <p:cNvPr name="TextBox 21" id="21"/>
            <p:cNvSpPr txBox="true"/>
            <p:nvPr/>
          </p:nvSpPr>
          <p:spPr>
            <a:xfrm rot="0">
              <a:off x="0" y="2398648"/>
              <a:ext cx="12460150" cy="6778625"/>
            </a:xfrm>
            <a:prstGeom prst="rect">
              <a:avLst/>
            </a:prstGeom>
          </p:spPr>
          <p:txBody>
            <a:bodyPr anchor="t" rtlCol="false" tIns="0" lIns="0" bIns="0" rIns="0">
              <a:spAutoFit/>
            </a:bodyPr>
            <a:lstStyle/>
            <a:p>
              <a:pPr algn="l" marL="560591" indent="-280295" lvl="1">
                <a:lnSpc>
                  <a:spcPts val="3115"/>
                </a:lnSpc>
                <a:buFont typeface="Arial"/>
                <a:buChar char="•"/>
              </a:pPr>
              <a:r>
                <a:rPr lang="en-US" b="true" sz="2596">
                  <a:solidFill>
                    <a:srgbClr val="312B30"/>
                  </a:solidFill>
                  <a:latin typeface="Open Sans Bold"/>
                  <a:ea typeface="Open Sans Bold"/>
                  <a:cs typeface="Open Sans Bold"/>
                  <a:sym typeface="Open Sans Bold"/>
                </a:rPr>
                <a:t>Xu hướng: </a:t>
              </a:r>
              <a:r>
                <a:rPr lang="en-US" sz="2596">
                  <a:solidFill>
                    <a:srgbClr val="312B30"/>
                  </a:solidFill>
                  <a:latin typeface="Open Sans"/>
                  <a:ea typeface="Open Sans"/>
                  <a:cs typeface="Open Sans"/>
                  <a:sym typeface="Open Sans"/>
                </a:rPr>
                <a:t>Khách hàng chủ yếu nằm trong độ tuổi 25-45 và chi tiêu nhiều nhất vào danh mục Clothing và Cosmetics.</a:t>
              </a:r>
            </a:p>
            <a:p>
              <a:pPr algn="l" marL="560591" indent="-280295" lvl="1">
                <a:lnSpc>
                  <a:spcPts val="3115"/>
                </a:lnSpc>
                <a:buFont typeface="Arial"/>
                <a:buChar char="•"/>
              </a:pPr>
              <a:r>
                <a:rPr lang="en-US" b="true" sz="2596">
                  <a:solidFill>
                    <a:srgbClr val="312B30"/>
                  </a:solidFill>
                  <a:latin typeface="Open Sans Bold"/>
                  <a:ea typeface="Open Sans Bold"/>
                  <a:cs typeface="Open Sans Bold"/>
                  <a:sym typeface="Open Sans Bold"/>
                </a:rPr>
                <a:t>So sánh:</a:t>
              </a:r>
              <a:r>
                <a:rPr lang="en-US" sz="2596">
                  <a:solidFill>
                    <a:srgbClr val="312B30"/>
                  </a:solidFill>
                  <a:latin typeface="Open Sans"/>
                  <a:ea typeface="Open Sans"/>
                  <a:cs typeface="Open Sans"/>
                  <a:sym typeface="Open Sans"/>
                </a:rPr>
                <a:t> Giới tính Nữ có xu hướng chi tiêu tổng cộng cao hơn so với giới tính Nam, mặc dù số lượng giao dịch có thể tương đương.</a:t>
              </a:r>
            </a:p>
            <a:p>
              <a:pPr algn="l" marL="560591" indent="-280295" lvl="1">
                <a:lnSpc>
                  <a:spcPts val="3115"/>
                </a:lnSpc>
                <a:buFont typeface="Arial"/>
                <a:buChar char="•"/>
              </a:pPr>
              <a:r>
                <a:rPr lang="en-US" b="true" sz="2596">
                  <a:solidFill>
                    <a:srgbClr val="312B30"/>
                  </a:solidFill>
                  <a:latin typeface="Open Sans Bold"/>
                  <a:ea typeface="Open Sans Bold"/>
                  <a:cs typeface="Open Sans Bold"/>
                  <a:sym typeface="Open Sans Bold"/>
                </a:rPr>
                <a:t>Tương quan: </a:t>
              </a:r>
              <a:r>
                <a:rPr lang="en-US" sz="2596">
                  <a:solidFill>
                    <a:srgbClr val="312B30"/>
                  </a:solidFill>
                  <a:latin typeface="Open Sans"/>
                  <a:ea typeface="Open Sans"/>
                  <a:cs typeface="Open Sans"/>
                  <a:sym typeface="Open Sans"/>
                </a:rPr>
                <a:t>Có một tương quan thuận nhẹ giữa độ tuổi và Review Rating, cho thấy khách hàng lớn tuổi có xu hướng đánh giá sản phẩm cao hơn.</a:t>
              </a:r>
            </a:p>
            <a:p>
              <a:pPr algn="l" marL="560591" indent="-280295" lvl="1">
                <a:lnSpc>
                  <a:spcPts val="3115"/>
                </a:lnSpc>
                <a:buFont typeface="Arial"/>
                <a:buChar char="•"/>
              </a:pPr>
              <a:r>
                <a:rPr lang="en-US" b="true" sz="2596">
                  <a:solidFill>
                    <a:srgbClr val="312B30"/>
                  </a:solidFill>
                  <a:latin typeface="Open Sans Bold"/>
                  <a:ea typeface="Open Sans Bold"/>
                  <a:cs typeface="Open Sans Bold"/>
                  <a:sym typeface="Open Sans Bold"/>
                </a:rPr>
                <a:t>Thanh toán: </a:t>
              </a:r>
              <a:r>
                <a:rPr lang="en-US" sz="2596">
                  <a:solidFill>
                    <a:srgbClr val="312B30"/>
                  </a:solidFill>
                  <a:latin typeface="Open Sans"/>
                  <a:ea typeface="Open Sans"/>
                  <a:cs typeface="Open Sans"/>
                  <a:sym typeface="Open Sans"/>
                </a:rPr>
                <a:t>Credit Card là phương thức thanh toán phổ biến nhất, nhưng PayPal lại được sử dụng cho các giao dịch có giá trị cao hơn.</a:t>
              </a:r>
            </a:p>
            <a:p>
              <a:pPr algn="l">
                <a:lnSpc>
                  <a:spcPts val="3115"/>
                </a:lnSpc>
              </a:pPr>
            </a:p>
          </p:txBody>
        </p:sp>
        <p:sp>
          <p:nvSpPr>
            <p:cNvPr name="TextBox 22" id="22"/>
            <p:cNvSpPr txBox="true"/>
            <p:nvPr/>
          </p:nvSpPr>
          <p:spPr>
            <a:xfrm rot="0">
              <a:off x="231049" y="1312148"/>
              <a:ext cx="11918644" cy="597523"/>
            </a:xfrm>
            <a:prstGeom prst="rect">
              <a:avLst/>
            </a:prstGeom>
          </p:spPr>
          <p:txBody>
            <a:bodyPr anchor="t" rtlCol="false" tIns="0" lIns="0" bIns="0" rIns="0">
              <a:spAutoFit/>
            </a:bodyPr>
            <a:lstStyle/>
            <a:p>
              <a:pPr algn="ctr">
                <a:lnSpc>
                  <a:spcPts val="3535"/>
                </a:lnSpc>
              </a:pPr>
              <a:r>
                <a:rPr lang="en-US" b="true" sz="2996">
                  <a:solidFill>
                    <a:srgbClr val="312B30"/>
                  </a:solidFill>
                  <a:latin typeface="Open Sans Bold"/>
                  <a:ea typeface="Open Sans Bold"/>
                  <a:cs typeface="Open Sans Bold"/>
                  <a:sym typeface="Open Sans Bold"/>
                </a:rPr>
                <a:t>Tóm tắt những phát hiện quan trọng</a:t>
              </a:r>
            </a:p>
          </p:txBody>
        </p:sp>
        <p:sp>
          <p:nvSpPr>
            <p:cNvPr name="TextBox 23" id="23"/>
            <p:cNvSpPr txBox="true"/>
            <p:nvPr/>
          </p:nvSpPr>
          <p:spPr>
            <a:xfrm rot="0">
              <a:off x="231049" y="76200"/>
              <a:ext cx="11918644" cy="1014166"/>
            </a:xfrm>
            <a:prstGeom prst="rect">
              <a:avLst/>
            </a:prstGeom>
          </p:spPr>
          <p:txBody>
            <a:bodyPr anchor="t" rtlCol="false" tIns="0" lIns="0" bIns="0" rIns="0">
              <a:spAutoFit/>
            </a:bodyPr>
            <a:lstStyle/>
            <a:p>
              <a:pPr algn="l">
                <a:lnSpc>
                  <a:spcPts val="5699"/>
                </a:lnSpc>
              </a:pPr>
              <a:r>
                <a:rPr lang="en-US" sz="5427" b="true">
                  <a:solidFill>
                    <a:srgbClr val="252525"/>
                  </a:solidFill>
                  <a:latin typeface="Fira Sans Bold"/>
                  <a:ea typeface="Fira Sans Bold"/>
                  <a:cs typeface="Fira Sans Bold"/>
                  <a:sym typeface="Fira Sans Bold"/>
                </a:rPr>
                <a:t>KẾT LUẬN &amp; RÚT RA BÀI HỌC</a:t>
              </a:r>
            </a:p>
          </p:txBody>
        </p:sp>
      </p:grpSp>
      <p:sp>
        <p:nvSpPr>
          <p:cNvPr name="AutoShape 24" id="24"/>
          <p:cNvSpPr/>
          <p:nvPr/>
        </p:nvSpPr>
        <p:spPr>
          <a:xfrm>
            <a:off x="7709309" y="8891790"/>
            <a:ext cx="3784243" cy="0"/>
          </a:xfrm>
          <a:prstGeom prst="line">
            <a:avLst/>
          </a:prstGeom>
          <a:ln cap="flat" w="38100">
            <a:solidFill>
              <a:srgbClr val="C1142D"/>
            </a:solidFill>
            <a:prstDash val="sysDot"/>
            <a:headEnd type="none" len="sm" w="sm"/>
            <a:tailEnd type="none" len="sm" w="sm"/>
          </a:ln>
        </p:spPr>
      </p:sp>
      <p:sp>
        <p:nvSpPr>
          <p:cNvPr name="Freeform 25" id="25"/>
          <p:cNvSpPr/>
          <p:nvPr/>
        </p:nvSpPr>
        <p:spPr>
          <a:xfrm flipH="false" flipV="false" rot="0">
            <a:off x="664907" y="1186077"/>
            <a:ext cx="7478593" cy="9521357"/>
          </a:xfrm>
          <a:custGeom>
            <a:avLst/>
            <a:gdLst/>
            <a:ahLst/>
            <a:cxnLst/>
            <a:rect r="r" b="b" t="t" l="l"/>
            <a:pathLst>
              <a:path h="9521357" w="7478593">
                <a:moveTo>
                  <a:pt x="0" y="0"/>
                </a:moveTo>
                <a:lnTo>
                  <a:pt x="7478593" y="0"/>
                </a:lnTo>
                <a:lnTo>
                  <a:pt x="7478593" y="9521358"/>
                </a:lnTo>
                <a:lnTo>
                  <a:pt x="0" y="95213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6" id="26"/>
          <p:cNvGrpSpPr/>
          <p:nvPr/>
        </p:nvGrpSpPr>
        <p:grpSpPr>
          <a:xfrm rot="0">
            <a:off x="664907" y="-420435"/>
            <a:ext cx="16886843" cy="1606512"/>
            <a:chOff x="0" y="0"/>
            <a:chExt cx="4447564" cy="423114"/>
          </a:xfrm>
        </p:grpSpPr>
        <p:sp>
          <p:nvSpPr>
            <p:cNvPr name="Freeform 27" id="27"/>
            <p:cNvSpPr/>
            <p:nvPr/>
          </p:nvSpPr>
          <p:spPr>
            <a:xfrm flipH="false" flipV="false" rot="0">
              <a:off x="0" y="0"/>
              <a:ext cx="4447563" cy="423114"/>
            </a:xfrm>
            <a:custGeom>
              <a:avLst/>
              <a:gdLst/>
              <a:ahLst/>
              <a:cxnLst/>
              <a:rect r="r" b="b" t="t" l="l"/>
              <a:pathLst>
                <a:path h="423114" w="4447563">
                  <a:moveTo>
                    <a:pt x="9628" y="0"/>
                  </a:moveTo>
                  <a:lnTo>
                    <a:pt x="4437936" y="0"/>
                  </a:lnTo>
                  <a:cubicBezTo>
                    <a:pt x="4443253" y="0"/>
                    <a:pt x="4447563" y="4310"/>
                    <a:pt x="4447563" y="9628"/>
                  </a:cubicBezTo>
                  <a:lnTo>
                    <a:pt x="4447563" y="413487"/>
                  </a:lnTo>
                  <a:cubicBezTo>
                    <a:pt x="4447563" y="418804"/>
                    <a:pt x="4443253" y="423114"/>
                    <a:pt x="4437936" y="423114"/>
                  </a:cubicBezTo>
                  <a:lnTo>
                    <a:pt x="9628" y="423114"/>
                  </a:lnTo>
                  <a:cubicBezTo>
                    <a:pt x="4310" y="423114"/>
                    <a:pt x="0" y="418804"/>
                    <a:pt x="0" y="413487"/>
                  </a:cubicBezTo>
                  <a:lnTo>
                    <a:pt x="0" y="9628"/>
                  </a:lnTo>
                  <a:cubicBezTo>
                    <a:pt x="0" y="4310"/>
                    <a:pt x="4310" y="0"/>
                    <a:pt x="9628" y="0"/>
                  </a:cubicBezTo>
                  <a:close/>
                </a:path>
              </a:pathLst>
            </a:custGeom>
            <a:gradFill rotWithShape="true">
              <a:gsLst>
                <a:gs pos="0">
                  <a:srgbClr val="FFB73D">
                    <a:alpha val="41000"/>
                  </a:srgbClr>
                </a:gs>
                <a:gs pos="33333">
                  <a:srgbClr val="F6985C">
                    <a:alpha val="77500"/>
                  </a:srgbClr>
                </a:gs>
                <a:gs pos="66667">
                  <a:srgbClr val="C60000">
                    <a:alpha val="54500"/>
                  </a:srgbClr>
                </a:gs>
                <a:gs pos="100000">
                  <a:srgbClr val="C60000">
                    <a:alpha val="92000"/>
                  </a:srgbClr>
                </a:gs>
              </a:gsLst>
              <a:lin ang="5400000"/>
            </a:gradFill>
          </p:spPr>
        </p:sp>
        <p:sp>
          <p:nvSpPr>
            <p:cNvPr name="TextBox 28" id="28"/>
            <p:cNvSpPr txBox="true"/>
            <p:nvPr/>
          </p:nvSpPr>
          <p:spPr>
            <a:xfrm>
              <a:off x="0" y="66675"/>
              <a:ext cx="4447564" cy="356439"/>
            </a:xfrm>
            <a:prstGeom prst="rect">
              <a:avLst/>
            </a:prstGeom>
          </p:spPr>
          <p:txBody>
            <a:bodyPr anchor="ctr" rtlCol="false" tIns="50800" lIns="50800" bIns="50800" rIns="50800"/>
            <a:lstStyle/>
            <a:p>
              <a:pPr algn="ctr">
                <a:lnSpc>
                  <a:spcPts val="1468"/>
                </a:lnSpc>
              </a:pPr>
            </a:p>
          </p:txBody>
        </p:sp>
      </p:grpSp>
      <p:sp>
        <p:nvSpPr>
          <p:cNvPr name="Freeform 29" id="29"/>
          <p:cNvSpPr/>
          <p:nvPr/>
        </p:nvSpPr>
        <p:spPr>
          <a:xfrm flipH="false" flipV="false" rot="0">
            <a:off x="1039225" y="3620736"/>
            <a:ext cx="6670084" cy="5202665"/>
          </a:xfrm>
          <a:custGeom>
            <a:avLst/>
            <a:gdLst/>
            <a:ahLst/>
            <a:cxnLst/>
            <a:rect r="r" b="b" t="t" l="l"/>
            <a:pathLst>
              <a:path h="5202665" w="6670084">
                <a:moveTo>
                  <a:pt x="0" y="0"/>
                </a:moveTo>
                <a:lnTo>
                  <a:pt x="6670084" y="0"/>
                </a:lnTo>
                <a:lnTo>
                  <a:pt x="6670084" y="5202665"/>
                </a:lnTo>
                <a:lnTo>
                  <a:pt x="0" y="5202665"/>
                </a:lnTo>
                <a:lnTo>
                  <a:pt x="0" y="0"/>
                </a:lnTo>
                <a:close/>
              </a:path>
            </a:pathLst>
          </a:custGeom>
          <a:blipFill>
            <a:blip r:embed="rId8"/>
            <a:stretch>
              <a:fillRect l="0" t="0" r="0" b="0"/>
            </a:stretch>
          </a:blipFill>
        </p:spPr>
      </p:sp>
      <p:sp>
        <p:nvSpPr>
          <p:cNvPr name="Freeform 30" id="30"/>
          <p:cNvSpPr/>
          <p:nvPr/>
        </p:nvSpPr>
        <p:spPr>
          <a:xfrm flipH="false" flipV="false" rot="0">
            <a:off x="5713927" y="7440024"/>
            <a:ext cx="1995382" cy="2865430"/>
          </a:xfrm>
          <a:custGeom>
            <a:avLst/>
            <a:gdLst/>
            <a:ahLst/>
            <a:cxnLst/>
            <a:rect r="r" b="b" t="t" l="l"/>
            <a:pathLst>
              <a:path h="2865430" w="1995382">
                <a:moveTo>
                  <a:pt x="0" y="0"/>
                </a:moveTo>
                <a:lnTo>
                  <a:pt x="1995382" y="0"/>
                </a:lnTo>
                <a:lnTo>
                  <a:pt x="1995382" y="2865431"/>
                </a:lnTo>
                <a:lnTo>
                  <a:pt x="0" y="28654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1" id="31"/>
          <p:cNvSpPr/>
          <p:nvPr/>
        </p:nvSpPr>
        <p:spPr>
          <a:xfrm flipH="false" flipV="false" rot="0">
            <a:off x="5840611" y="8593211"/>
            <a:ext cx="1742015" cy="1244749"/>
          </a:xfrm>
          <a:custGeom>
            <a:avLst/>
            <a:gdLst/>
            <a:ahLst/>
            <a:cxnLst/>
            <a:rect r="r" b="b" t="t" l="l"/>
            <a:pathLst>
              <a:path h="1244749" w="1742015">
                <a:moveTo>
                  <a:pt x="0" y="0"/>
                </a:moveTo>
                <a:lnTo>
                  <a:pt x="1742015" y="0"/>
                </a:lnTo>
                <a:lnTo>
                  <a:pt x="1742015" y="1244749"/>
                </a:lnTo>
                <a:lnTo>
                  <a:pt x="0" y="124474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2" id="32"/>
          <p:cNvSpPr/>
          <p:nvPr/>
        </p:nvSpPr>
        <p:spPr>
          <a:xfrm flipH="false" flipV="false" rot="-5400000">
            <a:off x="-419771" y="8496512"/>
            <a:ext cx="1467463" cy="370868"/>
          </a:xfrm>
          <a:custGeom>
            <a:avLst/>
            <a:gdLst/>
            <a:ahLst/>
            <a:cxnLst/>
            <a:rect r="r" b="b" t="t" l="l"/>
            <a:pathLst>
              <a:path h="370868" w="1467463">
                <a:moveTo>
                  <a:pt x="0" y="0"/>
                </a:moveTo>
                <a:lnTo>
                  <a:pt x="1467463" y="0"/>
                </a:lnTo>
                <a:lnTo>
                  <a:pt x="1467463" y="370868"/>
                </a:lnTo>
                <a:lnTo>
                  <a:pt x="0" y="3708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transition spd="slow">
    <p:push dir="u"/>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31000"/>
              </a:srgbClr>
            </a:gs>
            <a:gs pos="100000">
              <a:srgbClr val="FF8266">
                <a:alpha val="34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972716" y="487837"/>
            <a:ext cx="2053742" cy="354893"/>
            <a:chOff x="0" y="0"/>
            <a:chExt cx="1015246" cy="175438"/>
          </a:xfrm>
        </p:grpSpPr>
        <p:sp>
          <p:nvSpPr>
            <p:cNvPr name="Freeform 3" id="3"/>
            <p:cNvSpPr/>
            <p:nvPr/>
          </p:nvSpPr>
          <p:spPr>
            <a:xfrm flipH="false" flipV="false" rot="0">
              <a:off x="0" y="0"/>
              <a:ext cx="1015246" cy="175438"/>
            </a:xfrm>
            <a:custGeom>
              <a:avLst/>
              <a:gdLst/>
              <a:ahLst/>
              <a:cxnLst/>
              <a:rect r="r" b="b" t="t" l="l"/>
              <a:pathLst>
                <a:path h="175438" w="1015246">
                  <a:moveTo>
                    <a:pt x="41466" y="0"/>
                  </a:moveTo>
                  <a:lnTo>
                    <a:pt x="973780" y="0"/>
                  </a:lnTo>
                  <a:cubicBezTo>
                    <a:pt x="984778" y="0"/>
                    <a:pt x="995325" y="4369"/>
                    <a:pt x="1003101" y="12145"/>
                  </a:cubicBezTo>
                  <a:cubicBezTo>
                    <a:pt x="1010878" y="19922"/>
                    <a:pt x="1015246" y="30469"/>
                    <a:pt x="1015246" y="41466"/>
                  </a:cubicBezTo>
                  <a:lnTo>
                    <a:pt x="1015246" y="133971"/>
                  </a:lnTo>
                  <a:cubicBezTo>
                    <a:pt x="1015246" y="156873"/>
                    <a:pt x="996681" y="175438"/>
                    <a:pt x="973780" y="175438"/>
                  </a:cubicBezTo>
                  <a:lnTo>
                    <a:pt x="41466" y="175438"/>
                  </a:lnTo>
                  <a:cubicBezTo>
                    <a:pt x="30469" y="175438"/>
                    <a:pt x="19922" y="171069"/>
                    <a:pt x="12145" y="163293"/>
                  </a:cubicBezTo>
                  <a:cubicBezTo>
                    <a:pt x="4369" y="155516"/>
                    <a:pt x="0" y="144969"/>
                    <a:pt x="0" y="133971"/>
                  </a:cubicBezTo>
                  <a:lnTo>
                    <a:pt x="0" y="41466"/>
                  </a:lnTo>
                  <a:cubicBezTo>
                    <a:pt x="0" y="30469"/>
                    <a:pt x="4369" y="19922"/>
                    <a:pt x="12145" y="12145"/>
                  </a:cubicBezTo>
                  <a:cubicBezTo>
                    <a:pt x="19922" y="4369"/>
                    <a:pt x="30469" y="0"/>
                    <a:pt x="41466" y="0"/>
                  </a:cubicBezTo>
                  <a:close/>
                </a:path>
              </a:pathLst>
            </a:custGeom>
            <a:solidFill>
              <a:srgbClr val="FFFFFF">
                <a:alpha val="37647"/>
              </a:srgbClr>
            </a:solidFill>
          </p:spPr>
        </p:sp>
        <p:sp>
          <p:nvSpPr>
            <p:cNvPr name="TextBox 4" id="4"/>
            <p:cNvSpPr txBox="true"/>
            <p:nvPr/>
          </p:nvSpPr>
          <p:spPr>
            <a:xfrm>
              <a:off x="0" y="-38100"/>
              <a:ext cx="1015246" cy="21353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544459" y="487837"/>
            <a:ext cx="481998" cy="354893"/>
            <a:chOff x="0" y="0"/>
            <a:chExt cx="238271" cy="175438"/>
          </a:xfrm>
        </p:grpSpPr>
        <p:sp>
          <p:nvSpPr>
            <p:cNvPr name="Freeform 6" id="6"/>
            <p:cNvSpPr/>
            <p:nvPr/>
          </p:nvSpPr>
          <p:spPr>
            <a:xfrm flipH="false" flipV="false" rot="0">
              <a:off x="0" y="0"/>
              <a:ext cx="238271" cy="175438"/>
            </a:xfrm>
            <a:custGeom>
              <a:avLst/>
              <a:gdLst/>
              <a:ahLst/>
              <a:cxnLst/>
              <a:rect r="r" b="b" t="t" l="l"/>
              <a:pathLst>
                <a:path h="175438" w="238271">
                  <a:moveTo>
                    <a:pt x="87719" y="0"/>
                  </a:moveTo>
                  <a:lnTo>
                    <a:pt x="150552" y="0"/>
                  </a:lnTo>
                  <a:cubicBezTo>
                    <a:pt x="198998" y="0"/>
                    <a:pt x="238271" y="39273"/>
                    <a:pt x="238271" y="87719"/>
                  </a:cubicBezTo>
                  <a:lnTo>
                    <a:pt x="238271" y="87719"/>
                  </a:lnTo>
                  <a:cubicBezTo>
                    <a:pt x="238271" y="136165"/>
                    <a:pt x="198998" y="175438"/>
                    <a:pt x="150552" y="175438"/>
                  </a:cubicBezTo>
                  <a:lnTo>
                    <a:pt x="87719" y="175438"/>
                  </a:lnTo>
                  <a:cubicBezTo>
                    <a:pt x="39273" y="175438"/>
                    <a:pt x="0" y="136165"/>
                    <a:pt x="0" y="87719"/>
                  </a:cubicBezTo>
                  <a:lnTo>
                    <a:pt x="0" y="87719"/>
                  </a:lnTo>
                  <a:cubicBezTo>
                    <a:pt x="0" y="39273"/>
                    <a:pt x="39273" y="0"/>
                    <a:pt x="87719" y="0"/>
                  </a:cubicBezTo>
                  <a:close/>
                </a:path>
              </a:pathLst>
            </a:custGeom>
            <a:solidFill>
              <a:srgbClr val="FFFFFF">
                <a:alpha val="83922"/>
              </a:srgbClr>
            </a:solidFill>
          </p:spPr>
        </p:sp>
        <p:sp>
          <p:nvSpPr>
            <p:cNvPr name="TextBox 7" id="7"/>
            <p:cNvSpPr txBox="true"/>
            <p:nvPr/>
          </p:nvSpPr>
          <p:spPr>
            <a:xfrm>
              <a:off x="0" y="-38100"/>
              <a:ext cx="238271" cy="21353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6675410" y="619366"/>
            <a:ext cx="220097" cy="91835"/>
          </a:xfrm>
          <a:custGeom>
            <a:avLst/>
            <a:gdLst/>
            <a:ahLst/>
            <a:cxnLst/>
            <a:rect r="r" b="b" t="t" l="l"/>
            <a:pathLst>
              <a:path h="91835" w="220097">
                <a:moveTo>
                  <a:pt x="0" y="0"/>
                </a:moveTo>
                <a:lnTo>
                  <a:pt x="220097" y="0"/>
                </a:lnTo>
                <a:lnTo>
                  <a:pt x="220097" y="91834"/>
                </a:lnTo>
                <a:lnTo>
                  <a:pt x="0" y="918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914188" y="3198755"/>
            <a:ext cx="9345112" cy="4349247"/>
          </a:xfrm>
          <a:prstGeom prst="rect">
            <a:avLst/>
          </a:prstGeom>
        </p:spPr>
        <p:txBody>
          <a:bodyPr anchor="t" rtlCol="false" tIns="0" lIns="0" bIns="0" rIns="0">
            <a:spAutoFit/>
          </a:bodyPr>
          <a:lstStyle/>
          <a:p>
            <a:pPr algn="l" marL="560591" indent="-280295" lvl="1">
              <a:lnSpc>
                <a:spcPts val="3894"/>
              </a:lnSpc>
              <a:buFont typeface="Arial"/>
              <a:buChar char="•"/>
            </a:pPr>
            <a:r>
              <a:rPr lang="en-US" b="true" sz="2596">
                <a:solidFill>
                  <a:srgbClr val="312B30"/>
                </a:solidFill>
                <a:latin typeface="Open Sans Bold"/>
                <a:ea typeface="Open Sans Bold"/>
                <a:cs typeface="Open Sans Bold"/>
                <a:sym typeface="Open Sans Bold"/>
              </a:rPr>
              <a:t>Marketing mục tiêu: </a:t>
            </a:r>
            <a:r>
              <a:rPr lang="en-US" sz="2596">
                <a:solidFill>
                  <a:srgbClr val="312B30"/>
                </a:solidFill>
                <a:latin typeface="Open Sans"/>
                <a:ea typeface="Open Sans"/>
                <a:cs typeface="Open Sans"/>
                <a:sym typeface="Open Sans"/>
              </a:rPr>
              <a:t>Doanh nghiệp nên tập trung chiến dịch quảng cáo vào nhóm tuổi 25-45 và sử dụng các kênh phù hợp với đối tượng này.</a:t>
            </a:r>
          </a:p>
          <a:p>
            <a:pPr algn="l" marL="560591" indent="-280295" lvl="1">
              <a:lnSpc>
                <a:spcPts val="3894"/>
              </a:lnSpc>
              <a:buFont typeface="Arial"/>
              <a:buChar char="•"/>
            </a:pPr>
            <a:r>
              <a:rPr lang="en-US" b="true" sz="2596">
                <a:solidFill>
                  <a:srgbClr val="312B30"/>
                </a:solidFill>
                <a:latin typeface="Open Sans Bold"/>
                <a:ea typeface="Open Sans Bold"/>
                <a:cs typeface="Open Sans Bold"/>
                <a:sym typeface="Open Sans Bold"/>
              </a:rPr>
              <a:t>Quản lý tồn kho: </a:t>
            </a:r>
            <a:r>
              <a:rPr lang="en-US" sz="2596">
                <a:solidFill>
                  <a:srgbClr val="312B30"/>
                </a:solidFill>
                <a:latin typeface="Open Sans"/>
                <a:ea typeface="Open Sans"/>
                <a:cs typeface="Open Sans"/>
                <a:sym typeface="Open Sans"/>
              </a:rPr>
              <a:t>Tăng cường nhập và đa dạng hóa hàng hóa trong danh mục Clothing và Cosmetics để đáp ứng nhu cầu cao.</a:t>
            </a:r>
          </a:p>
          <a:p>
            <a:pPr algn="l" marL="560591" indent="-280295" lvl="1">
              <a:lnSpc>
                <a:spcPts val="3894"/>
              </a:lnSpc>
              <a:buFont typeface="Arial"/>
              <a:buChar char="•"/>
            </a:pPr>
            <a:r>
              <a:rPr lang="en-US" b="true" sz="2596">
                <a:solidFill>
                  <a:srgbClr val="312B30"/>
                </a:solidFill>
                <a:latin typeface="Open Sans Bold"/>
                <a:ea typeface="Open Sans Bold"/>
                <a:cs typeface="Open Sans Bold"/>
                <a:sym typeface="Open Sans Bold"/>
              </a:rPr>
              <a:t>Chiến lược thanh toán:</a:t>
            </a:r>
            <a:r>
              <a:rPr lang="en-US" sz="2596">
                <a:solidFill>
                  <a:srgbClr val="312B30"/>
                </a:solidFill>
                <a:latin typeface="Open Sans"/>
                <a:ea typeface="Open Sans"/>
                <a:cs typeface="Open Sans"/>
                <a:sym typeface="Open Sans"/>
              </a:rPr>
              <a:t> Khuyến khích hoặc đưa ra ưu đãi cho phương thức PayPal trong các giao dịch lớn để tối ưu hóa tỷ lệ chuyển đổi.</a:t>
            </a:r>
          </a:p>
        </p:txBody>
      </p:sp>
      <p:grpSp>
        <p:nvGrpSpPr>
          <p:cNvPr name="Group 10" id="10"/>
          <p:cNvGrpSpPr/>
          <p:nvPr/>
        </p:nvGrpSpPr>
        <p:grpSpPr>
          <a:xfrm rot="0">
            <a:off x="-2487303" y="2639590"/>
            <a:ext cx="8593148" cy="859314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 id="12"/>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Freeform 13" id="13"/>
          <p:cNvSpPr/>
          <p:nvPr/>
        </p:nvSpPr>
        <p:spPr>
          <a:xfrm flipH="false" flipV="false" rot="0">
            <a:off x="-430133" y="1931086"/>
            <a:ext cx="7290674" cy="7184628"/>
          </a:xfrm>
          <a:custGeom>
            <a:avLst/>
            <a:gdLst/>
            <a:ahLst/>
            <a:cxnLst/>
            <a:rect r="r" b="b" t="t" l="l"/>
            <a:pathLst>
              <a:path h="7184628" w="7290674">
                <a:moveTo>
                  <a:pt x="0" y="0"/>
                </a:moveTo>
                <a:lnTo>
                  <a:pt x="7290674" y="0"/>
                </a:lnTo>
                <a:lnTo>
                  <a:pt x="7290674" y="7184628"/>
                </a:lnTo>
                <a:lnTo>
                  <a:pt x="0" y="7184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4972716" y="591810"/>
            <a:ext cx="1571743" cy="165735"/>
          </a:xfrm>
          <a:prstGeom prst="rect">
            <a:avLst/>
          </a:prstGeom>
        </p:spPr>
        <p:txBody>
          <a:bodyPr anchor="t" rtlCol="false" tIns="0" lIns="0" bIns="0" rIns="0">
            <a:spAutoFit/>
          </a:bodyPr>
          <a:lstStyle/>
          <a:p>
            <a:pPr algn="ctr">
              <a:lnSpc>
                <a:spcPts val="1305"/>
              </a:lnSpc>
            </a:pPr>
            <a:r>
              <a:rPr lang="en-US" sz="1220" spc="244">
                <a:solidFill>
                  <a:srgbClr val="000000"/>
                </a:solidFill>
                <a:latin typeface="Open Sans"/>
                <a:ea typeface="Open Sans"/>
                <a:cs typeface="Open Sans"/>
                <a:sym typeface="Open Sans"/>
              </a:rPr>
              <a:t>NEXT SLIDE</a:t>
            </a:r>
          </a:p>
        </p:txBody>
      </p:sp>
      <p:sp>
        <p:nvSpPr>
          <p:cNvPr name="TextBox 15" id="15"/>
          <p:cNvSpPr txBox="true"/>
          <p:nvPr/>
        </p:nvSpPr>
        <p:spPr>
          <a:xfrm rot="0">
            <a:off x="8087474" y="1545025"/>
            <a:ext cx="8938983" cy="741574"/>
          </a:xfrm>
          <a:prstGeom prst="rect">
            <a:avLst/>
          </a:prstGeom>
        </p:spPr>
        <p:txBody>
          <a:bodyPr anchor="t" rtlCol="false" tIns="0" lIns="0" bIns="0" rIns="0">
            <a:spAutoFit/>
          </a:bodyPr>
          <a:lstStyle/>
          <a:p>
            <a:pPr algn="l">
              <a:lnSpc>
                <a:spcPts val="5699"/>
              </a:lnSpc>
            </a:pPr>
            <a:r>
              <a:rPr lang="en-US" sz="5427" b="true">
                <a:solidFill>
                  <a:srgbClr val="252525"/>
                </a:solidFill>
                <a:latin typeface="Fira Sans Bold"/>
                <a:ea typeface="Fira Sans Bold"/>
                <a:cs typeface="Fira Sans Bold"/>
                <a:sym typeface="Fira Sans Bold"/>
              </a:rPr>
              <a:t>KẾT LUẬN &amp; RÚT RA BÀI HỌC</a:t>
            </a:r>
          </a:p>
        </p:txBody>
      </p:sp>
      <p:grpSp>
        <p:nvGrpSpPr>
          <p:cNvPr name="Group 16" id="16"/>
          <p:cNvGrpSpPr/>
          <p:nvPr/>
        </p:nvGrpSpPr>
        <p:grpSpPr>
          <a:xfrm rot="0">
            <a:off x="11944529" y="8082885"/>
            <a:ext cx="3420413" cy="342041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8" id="18"/>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19" id="19"/>
          <p:cNvGrpSpPr/>
          <p:nvPr/>
        </p:nvGrpSpPr>
        <p:grpSpPr>
          <a:xfrm rot="0">
            <a:off x="17259300" y="1587460"/>
            <a:ext cx="1398278" cy="139827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1" id="21"/>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22" id="22"/>
          <p:cNvGrpSpPr/>
          <p:nvPr/>
        </p:nvGrpSpPr>
        <p:grpSpPr>
          <a:xfrm rot="0">
            <a:off x="14631708" y="8351780"/>
            <a:ext cx="906520" cy="90652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24" id="24"/>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Freeform 25" id="25"/>
          <p:cNvSpPr/>
          <p:nvPr/>
        </p:nvSpPr>
        <p:spPr>
          <a:xfrm flipH="false" flipV="false" rot="0">
            <a:off x="17551749" y="6724176"/>
            <a:ext cx="821321" cy="2168576"/>
          </a:xfrm>
          <a:custGeom>
            <a:avLst/>
            <a:gdLst/>
            <a:ahLst/>
            <a:cxnLst/>
            <a:rect r="r" b="b" t="t" l="l"/>
            <a:pathLst>
              <a:path h="2168576" w="821321">
                <a:moveTo>
                  <a:pt x="0" y="0"/>
                </a:moveTo>
                <a:lnTo>
                  <a:pt x="821321" y="0"/>
                </a:lnTo>
                <a:lnTo>
                  <a:pt x="821321" y="2168576"/>
                </a:lnTo>
                <a:lnTo>
                  <a:pt x="0" y="21685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6" id="26"/>
          <p:cNvSpPr txBox="true"/>
          <p:nvPr/>
        </p:nvSpPr>
        <p:spPr>
          <a:xfrm rot="0">
            <a:off x="8087474" y="2455317"/>
            <a:ext cx="8938983" cy="445761"/>
          </a:xfrm>
          <a:prstGeom prst="rect">
            <a:avLst/>
          </a:prstGeom>
        </p:spPr>
        <p:txBody>
          <a:bodyPr anchor="t" rtlCol="false" tIns="0" lIns="0" bIns="0" rIns="0">
            <a:spAutoFit/>
          </a:bodyPr>
          <a:lstStyle/>
          <a:p>
            <a:pPr algn="ctr">
              <a:lnSpc>
                <a:spcPts val="3535"/>
              </a:lnSpc>
            </a:pPr>
            <a:r>
              <a:rPr lang="en-US" b="true" sz="2996">
                <a:solidFill>
                  <a:srgbClr val="312B30"/>
                </a:solidFill>
                <a:latin typeface="Open Sans Bold"/>
                <a:ea typeface="Open Sans Bold"/>
                <a:cs typeface="Open Sans Bold"/>
                <a:sym typeface="Open Sans Bold"/>
              </a:rPr>
              <a:t>Ý nghĩa Thực tiễn</a:t>
            </a:r>
          </a:p>
        </p:txBody>
      </p:sp>
    </p:spTree>
  </p:cSld>
  <p:clrMapOvr>
    <a:masterClrMapping/>
  </p:clrMapOvr>
  <p:transition spd="slow">
    <p:push dir="r"/>
  </p:transition>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31000"/>
              </a:srgbClr>
            </a:gs>
            <a:gs pos="100000">
              <a:srgbClr val="FF8266">
                <a:alpha val="34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597539" y="135054"/>
            <a:ext cx="11037022" cy="2549391"/>
          </a:xfrm>
          <a:custGeom>
            <a:avLst/>
            <a:gdLst/>
            <a:ahLst/>
            <a:cxnLst/>
            <a:rect r="r" b="b" t="t" l="l"/>
            <a:pathLst>
              <a:path h="2549391" w="11037022">
                <a:moveTo>
                  <a:pt x="0" y="0"/>
                </a:moveTo>
                <a:lnTo>
                  <a:pt x="11037022" y="0"/>
                </a:lnTo>
                <a:lnTo>
                  <a:pt x="11037022" y="2549391"/>
                </a:lnTo>
                <a:lnTo>
                  <a:pt x="0" y="2549391"/>
                </a:lnTo>
                <a:lnTo>
                  <a:pt x="0" y="0"/>
                </a:lnTo>
                <a:close/>
              </a:path>
            </a:pathLst>
          </a:custGeom>
          <a:blipFill>
            <a:blip r:embed="rId2">
              <a:alphaModFix amt="39000"/>
            </a:blip>
            <a:stretch>
              <a:fillRect l="0" t="-186264" r="0" b="-146663"/>
            </a:stretch>
          </a:blipFill>
        </p:spPr>
      </p:sp>
      <p:sp>
        <p:nvSpPr>
          <p:cNvPr name="Freeform 3" id="3"/>
          <p:cNvSpPr/>
          <p:nvPr/>
        </p:nvSpPr>
        <p:spPr>
          <a:xfrm flipH="true" flipV="true" rot="0">
            <a:off x="0" y="0"/>
            <a:ext cx="4402635" cy="4402635"/>
          </a:xfrm>
          <a:custGeom>
            <a:avLst/>
            <a:gdLst/>
            <a:ahLst/>
            <a:cxnLst/>
            <a:rect r="r" b="b" t="t" l="l"/>
            <a:pathLst>
              <a:path h="4402635" w="4402635">
                <a:moveTo>
                  <a:pt x="4402635" y="4402635"/>
                </a:moveTo>
                <a:lnTo>
                  <a:pt x="0" y="4402635"/>
                </a:lnTo>
                <a:lnTo>
                  <a:pt x="0" y="0"/>
                </a:lnTo>
                <a:lnTo>
                  <a:pt x="4402635" y="0"/>
                </a:lnTo>
                <a:lnTo>
                  <a:pt x="4402635" y="440263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17642" y="2201318"/>
            <a:ext cx="15852715" cy="7519878"/>
          </a:xfrm>
          <a:custGeom>
            <a:avLst/>
            <a:gdLst/>
            <a:ahLst/>
            <a:cxnLst/>
            <a:rect r="r" b="b" t="t" l="l"/>
            <a:pathLst>
              <a:path h="7519878" w="15852715">
                <a:moveTo>
                  <a:pt x="0" y="0"/>
                </a:moveTo>
                <a:lnTo>
                  <a:pt x="15852716" y="0"/>
                </a:lnTo>
                <a:lnTo>
                  <a:pt x="15852716" y="7519877"/>
                </a:lnTo>
                <a:lnTo>
                  <a:pt x="0" y="7519877"/>
                </a:lnTo>
                <a:lnTo>
                  <a:pt x="0" y="0"/>
                </a:lnTo>
                <a:close/>
              </a:path>
            </a:pathLst>
          </a:custGeom>
          <a:blipFill>
            <a:blip r:embed="rId5"/>
            <a:stretch>
              <a:fillRect l="0" t="0" r="0" b="0"/>
            </a:stretch>
          </a:blipFill>
        </p:spPr>
      </p:sp>
      <p:sp>
        <p:nvSpPr>
          <p:cNvPr name="Freeform 5" id="5"/>
          <p:cNvSpPr/>
          <p:nvPr/>
        </p:nvSpPr>
        <p:spPr>
          <a:xfrm flipH="false" flipV="true" rot="0">
            <a:off x="13885365" y="0"/>
            <a:ext cx="4402635" cy="4402635"/>
          </a:xfrm>
          <a:custGeom>
            <a:avLst/>
            <a:gdLst/>
            <a:ahLst/>
            <a:cxnLst/>
            <a:rect r="r" b="b" t="t" l="l"/>
            <a:pathLst>
              <a:path h="4402635" w="4402635">
                <a:moveTo>
                  <a:pt x="0" y="4402635"/>
                </a:moveTo>
                <a:lnTo>
                  <a:pt x="4402635" y="4402635"/>
                </a:lnTo>
                <a:lnTo>
                  <a:pt x="4402635" y="0"/>
                </a:lnTo>
                <a:lnTo>
                  <a:pt x="0" y="0"/>
                </a:lnTo>
                <a:lnTo>
                  <a:pt x="0" y="440263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0">
            <a:off x="15693838" y="6519987"/>
            <a:ext cx="2753039" cy="3201208"/>
          </a:xfrm>
          <a:custGeom>
            <a:avLst/>
            <a:gdLst/>
            <a:ahLst/>
            <a:cxnLst/>
            <a:rect r="r" b="b" t="t" l="l"/>
            <a:pathLst>
              <a:path h="3201208" w="2753039">
                <a:moveTo>
                  <a:pt x="0" y="3201208"/>
                </a:moveTo>
                <a:lnTo>
                  <a:pt x="2753039" y="3201208"/>
                </a:lnTo>
                <a:lnTo>
                  <a:pt x="2753039" y="0"/>
                </a:lnTo>
                <a:lnTo>
                  <a:pt x="0" y="0"/>
                </a:lnTo>
                <a:lnTo>
                  <a:pt x="0" y="320120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71656" y="7889143"/>
            <a:ext cx="2029775" cy="2738313"/>
          </a:xfrm>
          <a:custGeom>
            <a:avLst/>
            <a:gdLst/>
            <a:ahLst/>
            <a:cxnLst/>
            <a:rect r="r" b="b" t="t" l="l"/>
            <a:pathLst>
              <a:path h="2738313" w="2029775">
                <a:moveTo>
                  <a:pt x="0" y="2738314"/>
                </a:moveTo>
                <a:lnTo>
                  <a:pt x="2029774" y="2738314"/>
                </a:lnTo>
                <a:lnTo>
                  <a:pt x="2029774" y="0"/>
                </a:lnTo>
                <a:lnTo>
                  <a:pt x="0" y="0"/>
                </a:lnTo>
                <a:lnTo>
                  <a:pt x="0" y="2738314"/>
                </a:lnTo>
                <a:close/>
              </a:path>
            </a:pathLst>
          </a:custGeom>
          <a:blipFill>
            <a:blip r:embed="rId8"/>
            <a:stretch>
              <a:fillRect l="0" t="0" r="0" b="0"/>
            </a:stretch>
          </a:blipFill>
        </p:spPr>
      </p:sp>
      <p:sp>
        <p:nvSpPr>
          <p:cNvPr name="TextBox 8" id="8"/>
          <p:cNvSpPr txBox="true"/>
          <p:nvPr/>
        </p:nvSpPr>
        <p:spPr>
          <a:xfrm rot="0">
            <a:off x="4159436" y="719875"/>
            <a:ext cx="9969128" cy="1455949"/>
          </a:xfrm>
          <a:prstGeom prst="rect">
            <a:avLst/>
          </a:prstGeom>
        </p:spPr>
        <p:txBody>
          <a:bodyPr anchor="t" rtlCol="false" tIns="0" lIns="0" bIns="0" rIns="0">
            <a:spAutoFit/>
          </a:bodyPr>
          <a:lstStyle/>
          <a:p>
            <a:pPr algn="ctr">
              <a:lnSpc>
                <a:spcPts val="5699"/>
              </a:lnSpc>
            </a:pPr>
            <a:r>
              <a:rPr lang="en-US" b="true" sz="5427">
                <a:solidFill>
                  <a:srgbClr val="252525"/>
                </a:solidFill>
                <a:latin typeface="Fira Sans Bold"/>
                <a:ea typeface="Fira Sans Bold"/>
                <a:cs typeface="Fira Sans Bold"/>
                <a:sym typeface="Fira Sans Bold"/>
              </a:rPr>
              <a:t>ĐỀ XUẤT CHO CÁC NGHIÊN CỨU ỨNG DỤNG TIẾP THEO</a:t>
            </a:r>
          </a:p>
        </p:txBody>
      </p:sp>
      <p:sp>
        <p:nvSpPr>
          <p:cNvPr name="Freeform 9" id="9"/>
          <p:cNvSpPr/>
          <p:nvPr/>
        </p:nvSpPr>
        <p:spPr>
          <a:xfrm flipH="false" flipV="true" rot="0">
            <a:off x="14128564" y="-791568"/>
            <a:ext cx="4402635" cy="4402635"/>
          </a:xfrm>
          <a:custGeom>
            <a:avLst/>
            <a:gdLst/>
            <a:ahLst/>
            <a:cxnLst/>
            <a:rect r="r" b="b" t="t" l="l"/>
            <a:pathLst>
              <a:path h="4402635" w="4402635">
                <a:moveTo>
                  <a:pt x="0" y="4402636"/>
                </a:moveTo>
                <a:lnTo>
                  <a:pt x="4402635" y="4402636"/>
                </a:lnTo>
                <a:lnTo>
                  <a:pt x="4402635" y="0"/>
                </a:lnTo>
                <a:lnTo>
                  <a:pt x="0" y="0"/>
                </a:lnTo>
                <a:lnTo>
                  <a:pt x="0" y="4402636"/>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true" rot="0">
            <a:off x="-243199" y="-459341"/>
            <a:ext cx="4402635" cy="4402635"/>
          </a:xfrm>
          <a:custGeom>
            <a:avLst/>
            <a:gdLst/>
            <a:ahLst/>
            <a:cxnLst/>
            <a:rect r="r" b="b" t="t" l="l"/>
            <a:pathLst>
              <a:path h="4402635" w="4402635">
                <a:moveTo>
                  <a:pt x="4402635" y="4402635"/>
                </a:moveTo>
                <a:lnTo>
                  <a:pt x="0" y="4402635"/>
                </a:lnTo>
                <a:lnTo>
                  <a:pt x="0" y="0"/>
                </a:lnTo>
                <a:lnTo>
                  <a:pt x="4402635" y="0"/>
                </a:lnTo>
                <a:lnTo>
                  <a:pt x="4402635" y="4402635"/>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true" rot="0">
            <a:off x="15846238" y="6672387"/>
            <a:ext cx="2753039" cy="3201208"/>
          </a:xfrm>
          <a:custGeom>
            <a:avLst/>
            <a:gdLst/>
            <a:ahLst/>
            <a:cxnLst/>
            <a:rect r="r" b="b" t="t" l="l"/>
            <a:pathLst>
              <a:path h="3201208" w="2753039">
                <a:moveTo>
                  <a:pt x="0" y="3201208"/>
                </a:moveTo>
                <a:lnTo>
                  <a:pt x="2753039" y="3201208"/>
                </a:lnTo>
                <a:lnTo>
                  <a:pt x="2753039" y="0"/>
                </a:lnTo>
                <a:lnTo>
                  <a:pt x="0" y="0"/>
                </a:lnTo>
                <a:lnTo>
                  <a:pt x="0" y="3201208"/>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transition spd="slow">
    <p:push dir="d"/>
  </p:transition>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8266">
                <a:alpha val="51000"/>
              </a:srgbClr>
            </a:gs>
            <a:gs pos="100000">
              <a:srgbClr val="FFDE59">
                <a:alpha val="205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732415" y="3288795"/>
            <a:ext cx="8823170" cy="7251042"/>
          </a:xfrm>
          <a:custGeom>
            <a:avLst/>
            <a:gdLst/>
            <a:ahLst/>
            <a:cxnLst/>
            <a:rect r="r" b="b" t="t" l="l"/>
            <a:pathLst>
              <a:path h="7251042" w="8823170">
                <a:moveTo>
                  <a:pt x="0" y="0"/>
                </a:moveTo>
                <a:lnTo>
                  <a:pt x="8823170" y="0"/>
                </a:lnTo>
                <a:lnTo>
                  <a:pt x="8823170" y="7251042"/>
                </a:lnTo>
                <a:lnTo>
                  <a:pt x="0" y="72510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7989">
            <a:off x="15084686" y="6715833"/>
            <a:ext cx="1146209" cy="1093913"/>
          </a:xfrm>
          <a:custGeom>
            <a:avLst/>
            <a:gdLst/>
            <a:ahLst/>
            <a:cxnLst/>
            <a:rect r="r" b="b" t="t" l="l"/>
            <a:pathLst>
              <a:path h="1093913" w="1146209">
                <a:moveTo>
                  <a:pt x="0" y="0"/>
                </a:moveTo>
                <a:lnTo>
                  <a:pt x="1146209" y="0"/>
                </a:lnTo>
                <a:lnTo>
                  <a:pt x="1146209" y="1093913"/>
                </a:lnTo>
                <a:lnTo>
                  <a:pt x="0" y="1093913"/>
                </a:lnTo>
                <a:lnTo>
                  <a:pt x="0" y="0"/>
                </a:lnTo>
                <a:close/>
              </a:path>
            </a:pathLst>
          </a:custGeom>
          <a:blipFill>
            <a:blip r:embed="rId4"/>
            <a:stretch>
              <a:fillRect l="0" t="0" r="0" b="0"/>
            </a:stretch>
          </a:blipFill>
        </p:spPr>
      </p:sp>
      <p:sp>
        <p:nvSpPr>
          <p:cNvPr name="Freeform 4" id="4"/>
          <p:cNvSpPr/>
          <p:nvPr/>
        </p:nvSpPr>
        <p:spPr>
          <a:xfrm flipH="true" flipV="false" rot="0">
            <a:off x="-279065" y="6023887"/>
            <a:ext cx="4402635" cy="4402635"/>
          </a:xfrm>
          <a:custGeom>
            <a:avLst/>
            <a:gdLst/>
            <a:ahLst/>
            <a:cxnLst/>
            <a:rect r="r" b="b" t="t" l="l"/>
            <a:pathLst>
              <a:path h="4402635" w="4402635">
                <a:moveTo>
                  <a:pt x="4402635" y="0"/>
                </a:moveTo>
                <a:lnTo>
                  <a:pt x="0" y="0"/>
                </a:lnTo>
                <a:lnTo>
                  <a:pt x="0" y="4402635"/>
                </a:lnTo>
                <a:lnTo>
                  <a:pt x="4402635" y="4402635"/>
                </a:lnTo>
                <a:lnTo>
                  <a:pt x="440263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66743" y="3535290"/>
            <a:ext cx="2562396" cy="2243591"/>
          </a:xfrm>
          <a:custGeom>
            <a:avLst/>
            <a:gdLst/>
            <a:ahLst/>
            <a:cxnLst/>
            <a:rect r="r" b="b" t="t" l="l"/>
            <a:pathLst>
              <a:path h="2243591" w="2562396">
                <a:moveTo>
                  <a:pt x="0" y="0"/>
                </a:moveTo>
                <a:lnTo>
                  <a:pt x="2562396" y="0"/>
                </a:lnTo>
                <a:lnTo>
                  <a:pt x="2562396" y="2243591"/>
                </a:lnTo>
                <a:lnTo>
                  <a:pt x="0" y="22435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164430" y="6023887"/>
            <a:ext cx="4402635" cy="4402635"/>
          </a:xfrm>
          <a:custGeom>
            <a:avLst/>
            <a:gdLst/>
            <a:ahLst/>
            <a:cxnLst/>
            <a:rect r="r" b="b" t="t" l="l"/>
            <a:pathLst>
              <a:path h="4402635" w="4402635">
                <a:moveTo>
                  <a:pt x="0" y="0"/>
                </a:moveTo>
                <a:lnTo>
                  <a:pt x="4402635" y="0"/>
                </a:lnTo>
                <a:lnTo>
                  <a:pt x="4402635" y="4402635"/>
                </a:lnTo>
                <a:lnTo>
                  <a:pt x="0" y="44026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4631219" y="1228725"/>
            <a:ext cx="9025562" cy="1218848"/>
          </a:xfrm>
          <a:prstGeom prst="rect">
            <a:avLst/>
          </a:prstGeom>
        </p:spPr>
        <p:txBody>
          <a:bodyPr anchor="t" rtlCol="false" tIns="0" lIns="0" bIns="0" rIns="0">
            <a:spAutoFit/>
          </a:bodyPr>
          <a:lstStyle/>
          <a:p>
            <a:pPr algn="ctr">
              <a:lnSpc>
                <a:spcPts val="8988"/>
              </a:lnSpc>
            </a:pPr>
            <a:r>
              <a:rPr lang="en-US" sz="9363">
                <a:solidFill>
                  <a:srgbClr val="252525"/>
                </a:solidFill>
                <a:latin typeface="Luckiest Guy"/>
                <a:ea typeface="Luckiest Guy"/>
                <a:cs typeface="Luckiest Guy"/>
                <a:sym typeface="Luckiest Guy"/>
              </a:rPr>
              <a:t>thank you</a:t>
            </a:r>
          </a:p>
        </p:txBody>
      </p:sp>
      <p:sp>
        <p:nvSpPr>
          <p:cNvPr name="Freeform 8" id="8"/>
          <p:cNvSpPr/>
          <p:nvPr/>
        </p:nvSpPr>
        <p:spPr>
          <a:xfrm flipH="false" flipV="false" rot="1204850">
            <a:off x="2288557" y="6766434"/>
            <a:ext cx="1118768" cy="1306417"/>
          </a:xfrm>
          <a:custGeom>
            <a:avLst/>
            <a:gdLst/>
            <a:ahLst/>
            <a:cxnLst/>
            <a:rect r="r" b="b" t="t" l="l"/>
            <a:pathLst>
              <a:path h="1306417" w="1118768">
                <a:moveTo>
                  <a:pt x="0" y="0"/>
                </a:moveTo>
                <a:lnTo>
                  <a:pt x="1118768" y="0"/>
                </a:lnTo>
                <a:lnTo>
                  <a:pt x="1118768" y="1306418"/>
                </a:lnTo>
                <a:lnTo>
                  <a:pt x="0" y="130641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true" flipV="false" rot="-1892771">
            <a:off x="15098406" y="2882082"/>
            <a:ext cx="1118768" cy="1306417"/>
          </a:xfrm>
          <a:custGeom>
            <a:avLst/>
            <a:gdLst/>
            <a:ahLst/>
            <a:cxnLst/>
            <a:rect r="r" b="b" t="t" l="l"/>
            <a:pathLst>
              <a:path h="1306417" w="1118768">
                <a:moveTo>
                  <a:pt x="1118768" y="0"/>
                </a:moveTo>
                <a:lnTo>
                  <a:pt x="0" y="0"/>
                </a:lnTo>
                <a:lnTo>
                  <a:pt x="0" y="1306417"/>
                </a:lnTo>
                <a:lnTo>
                  <a:pt x="1118768" y="1306417"/>
                </a:lnTo>
                <a:lnTo>
                  <a:pt x="111876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16476257" y="1270514"/>
            <a:ext cx="1011481" cy="101148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12" id="12"/>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grpSp>
        <p:nvGrpSpPr>
          <p:cNvPr name="Group 13" id="13"/>
          <p:cNvGrpSpPr/>
          <p:nvPr/>
        </p:nvGrpSpPr>
        <p:grpSpPr>
          <a:xfrm rot="0">
            <a:off x="685102" y="2685952"/>
            <a:ext cx="849339" cy="84933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15F"/>
            </a:solidFill>
          </p:spPr>
        </p:sp>
        <p:sp>
          <p:nvSpPr>
            <p:cNvPr name="TextBox 15" id="15"/>
            <p:cNvSpPr txBox="true"/>
            <p:nvPr/>
          </p:nvSpPr>
          <p:spPr>
            <a:xfrm>
              <a:off x="76200" y="142875"/>
              <a:ext cx="660400" cy="593725"/>
            </a:xfrm>
            <a:prstGeom prst="rect">
              <a:avLst/>
            </a:prstGeom>
          </p:spPr>
          <p:txBody>
            <a:bodyPr anchor="ctr" rtlCol="false" tIns="50800" lIns="50800" bIns="50800" rIns="50800"/>
            <a:lstStyle/>
            <a:p>
              <a:pPr algn="ctr">
                <a:lnSpc>
                  <a:spcPts val="1468"/>
                </a:lnSpc>
              </a:pPr>
            </a:p>
          </p:txBody>
        </p:sp>
      </p:grpSp>
      <p:sp>
        <p:nvSpPr>
          <p:cNvPr name="TextBox 16" id="16"/>
          <p:cNvSpPr txBox="true"/>
          <p:nvPr/>
        </p:nvSpPr>
        <p:spPr>
          <a:xfrm rot="0">
            <a:off x="3481444" y="2502828"/>
            <a:ext cx="11325112" cy="1714810"/>
          </a:xfrm>
          <a:prstGeom prst="rect">
            <a:avLst/>
          </a:prstGeom>
        </p:spPr>
        <p:txBody>
          <a:bodyPr anchor="t" rtlCol="false" tIns="0" lIns="0" bIns="0" rIns="0">
            <a:spAutoFit/>
          </a:bodyPr>
          <a:lstStyle/>
          <a:p>
            <a:pPr algn="ctr">
              <a:lnSpc>
                <a:spcPts val="6542"/>
              </a:lnSpc>
            </a:pPr>
            <a:r>
              <a:rPr lang="en-US" sz="6815" spc="1144">
                <a:solidFill>
                  <a:srgbClr val="252525"/>
                </a:solidFill>
                <a:latin typeface="Luckiest Guy"/>
                <a:ea typeface="Luckiest Guy"/>
                <a:cs typeface="Luckiest Guy"/>
                <a:sym typeface="Luckiest Guy"/>
              </a:rPr>
              <a:t>For Your Attention</a:t>
            </a:r>
          </a:p>
          <a:p>
            <a:pPr algn="ctr">
              <a:lnSpc>
                <a:spcPts val="6542"/>
              </a:lnSpc>
            </a:pPr>
          </a:p>
        </p:txBody>
      </p:sp>
      <p:sp>
        <p:nvSpPr>
          <p:cNvPr name="TextBox 17" id="17"/>
          <p:cNvSpPr txBox="true"/>
          <p:nvPr/>
        </p:nvSpPr>
        <p:spPr>
          <a:xfrm rot="0">
            <a:off x="3761264" y="3659115"/>
            <a:ext cx="10765472" cy="451846"/>
          </a:xfrm>
          <a:prstGeom prst="rect">
            <a:avLst/>
          </a:prstGeom>
        </p:spPr>
        <p:txBody>
          <a:bodyPr anchor="t" rtlCol="false" tIns="0" lIns="0" bIns="0" rIns="0">
            <a:spAutoFit/>
          </a:bodyPr>
          <a:lstStyle/>
          <a:p>
            <a:pPr algn="ctr">
              <a:lnSpc>
                <a:spcPts val="3233"/>
              </a:lnSpc>
            </a:pPr>
            <a:r>
              <a:rPr lang="en-US" sz="3804" b="true">
                <a:solidFill>
                  <a:srgbClr val="FFFFFF"/>
                </a:solidFill>
                <a:latin typeface="Open Sans Bold"/>
                <a:ea typeface="Open Sans Bold"/>
                <a:cs typeface="Open Sans Bold"/>
                <a:sym typeface="Open Sans Bold"/>
              </a:rPr>
              <a:t>pHÂN TÍCH HÀNH VI MUA SẮM KHÁCH HÀNG</a:t>
            </a:r>
          </a:p>
        </p:txBody>
      </p:sp>
    </p:spTree>
  </p:cSld>
  <p:clrMapOvr>
    <a:masterClrMapping/>
  </p:clrMapOvr>
  <p:transition spd="fast">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DAG6pT3w0zo</dc:identifier>
  <dcterms:modified xsi:type="dcterms:W3CDTF">2011-08-01T06:04:30Z</dcterms:modified>
  <cp:revision>1</cp:revision>
  <dc:title>Báo cáo dự án</dc:title>
</cp:coreProperties>
</file>